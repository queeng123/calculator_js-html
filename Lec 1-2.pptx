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72" r:id="rId3"/>
    <p:sldId id="273" r:id="rId4"/>
    <p:sldId id="304" r:id="rId5"/>
    <p:sldId id="303" r:id="rId6"/>
    <p:sldId id="275" r:id="rId7"/>
    <p:sldId id="276" r:id="rId8"/>
    <p:sldId id="277" r:id="rId9"/>
    <p:sldId id="278" r:id="rId10"/>
    <p:sldId id="279" r:id="rId11"/>
    <p:sldId id="280" r:id="rId12"/>
    <p:sldId id="305" r:id="rId13"/>
    <p:sldId id="306" r:id="rId14"/>
    <p:sldId id="317" r:id="rId15"/>
    <p:sldId id="307" r:id="rId16"/>
    <p:sldId id="318" r:id="rId17"/>
    <p:sldId id="319" r:id="rId18"/>
    <p:sldId id="281" r:id="rId19"/>
    <p:sldId id="282" r:id="rId20"/>
    <p:sldId id="283" r:id="rId21"/>
    <p:sldId id="309" r:id="rId22"/>
    <p:sldId id="285" r:id="rId23"/>
    <p:sldId id="310" r:id="rId24"/>
    <p:sldId id="286" r:id="rId25"/>
    <p:sldId id="287" r:id="rId26"/>
    <p:sldId id="311" r:id="rId27"/>
    <p:sldId id="312" r:id="rId28"/>
    <p:sldId id="288" r:id="rId29"/>
    <p:sldId id="289" r:id="rId30"/>
    <p:sldId id="290" r:id="rId31"/>
    <p:sldId id="291" r:id="rId32"/>
    <p:sldId id="292" r:id="rId33"/>
    <p:sldId id="293" r:id="rId34"/>
    <p:sldId id="313" r:id="rId35"/>
    <p:sldId id="314" r:id="rId36"/>
    <p:sldId id="294" r:id="rId37"/>
    <p:sldId id="295" r:id="rId38"/>
    <p:sldId id="296" r:id="rId39"/>
    <p:sldId id="315" r:id="rId40"/>
    <p:sldId id="297" r:id="rId41"/>
    <p:sldId id="298" r:id="rId42"/>
    <p:sldId id="299" r:id="rId43"/>
    <p:sldId id="302" r:id="rId44"/>
    <p:sldId id="316" r:id="rId4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gM6VNHpDPnSK9aWOWxRBT33mzRG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8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6" autoAdjust="0"/>
    <p:restoredTop sz="0" autoAdjust="0"/>
  </p:normalViewPr>
  <p:slideViewPr>
    <p:cSldViewPr snapToGrid="0">
      <p:cViewPr varScale="1">
        <p:scale>
          <a:sx n="82" d="100"/>
          <a:sy n="82" d="100"/>
        </p:scale>
        <p:origin x="68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50" Type="http://schemas.openxmlformats.org/officeDocument/2006/relationships/commentAuthors" Target="commentAuthors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bhi _B" userId="a0c33b1ae0bdaa29" providerId="LiveId" clId="{7B325C33-94D7-43C2-A6A0-9EF9F5DD8C16}"/>
    <pc:docChg chg="modSld">
      <pc:chgData name="Surbhi _B" userId="a0c33b1ae0bdaa29" providerId="LiveId" clId="{7B325C33-94D7-43C2-A6A0-9EF9F5DD8C16}" dt="2026-02-02T14:49:25.865" v="2" actId="14734"/>
      <pc:docMkLst>
        <pc:docMk/>
      </pc:docMkLst>
      <pc:sldChg chg="modSp mod">
        <pc:chgData name="Surbhi _B" userId="a0c33b1ae0bdaa29" providerId="LiveId" clId="{7B325C33-94D7-43C2-A6A0-9EF9F5DD8C16}" dt="2026-02-02T14:49:25.865" v="2" actId="14734"/>
        <pc:sldMkLst>
          <pc:docMk/>
          <pc:sldMk cId="1845037400" sldId="318"/>
        </pc:sldMkLst>
        <pc:graphicFrameChg chg="modGraphic">
          <ac:chgData name="Surbhi _B" userId="a0c33b1ae0bdaa29" providerId="LiveId" clId="{7B325C33-94D7-43C2-A6A0-9EF9F5DD8C16}" dt="2026-02-02T14:49:25.865" v="2" actId="14734"/>
          <ac:graphicFrameMkLst>
            <pc:docMk/>
            <pc:sldMk cId="1845037400" sldId="318"/>
            <ac:graphicFrameMk id="7" creationId="{8D052BA9-8A0A-6240-4E2A-5712F6D6A5B6}"/>
          </ac:graphicFrameMkLst>
        </pc:graphicFrame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0T14:53:58.918" idx="1">
    <p:pos x="4532" y="2558"/>
    <p:text>getElementById() is used in JavaScript to access (select) an HTML element by its unique id so you can read or change its content, style, or behavior.</p:text>
    <p:extLst>
      <p:ext uri="{C676402C-5697-4E1C-873F-D02D1690AC5C}">
        <p15:threadingInfo xmlns:p15="http://schemas.microsoft.com/office/powerpoint/2012/main" timeZoneBias="-330"/>
      </p:ext>
    </p:extLst>
  </p:cm>
  <p:cm authorId="1" dt="2026-01-20T15:14:29.521" idx="4">
    <p:pos x="3176" y="2024"/>
    <p:text>Print/Come up with something abruptly.
Change the visibility pattern. 
Hide elements.
Show elements or content that are hidden.</p:text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0T15:07:03.152" idx="2">
    <p:pos x="1016" y="2144"/>
    <p:text>unique identify within the program as to what needs to be done , post when we click on the radio button.</p:text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0T15:14:02.850" idx="3">
    <p:pos x="2999" y="1448"/>
    <p:text>basic program quite like hello world</p:text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0T15:20:07.117" idx="5">
    <p:pos x="5430" y="3473"/>
    <p:text>it may be a radio button on an on click function.</p:text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0T15:21:21.214" idx="6">
    <p:pos x="2982" y="1118"/>
    <p:text>Here the getElementByID is in the head proportion of the program code.</p:text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0T15:23:15.267" idx="7">
    <p:pos x="2118" y="2507"/>
    <p:text>Here the getElementByID is in the body proportion of the program code.</p:text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0T15:29:23.215" idx="10">
    <p:pos x="2685" y="152"/>
    <p:text>Now, the thing to learn is that there are two types of Java Scripts, External and Internal</p:text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0T15:26:10.352" idx="8">
    <p:pos x="1863" y="1999"/>
    <p:text>How it works
onclick="myFunction()"
→ Calls the JavaScript function when the button is clicked.
document.getElementById("demo")
→ Selects the paragraph element.
.innerHTML = "Paragraph changed."
→ Replaces the content inside the paragraph.</p:text>
    <p:extLst>
      <p:ext uri="{C676402C-5697-4E1C-873F-D02D1690AC5C}">
        <p15:threadingInfo xmlns:p15="http://schemas.microsoft.com/office/powerpoint/2012/main" timeZoneBias="-330"/>
      </p:ext>
    </p:extLst>
  </p:cm>
  <p:cm authorId="1" dt="2026-01-21T15:11:30.312" idx="11">
    <p:pos x="2397" y="3363"/>
    <p:text>What is happening in this code?
The HTML file contains the structure of the page.
The JavaScript code is written in a separate file called myScript.js.</p:text>
    <p:extLst>
      <p:ext uri="{C676402C-5697-4E1C-873F-D02D1690AC5C}">
        <p15:threadingInfo xmlns:p15="http://schemas.microsoft.com/office/powerpoint/2012/main" timeZoneBias="-330"/>
      </p:ext>
    </p:extLst>
  </p:cm>
  <p:cm authorId="1" dt="2026-01-21T15:18:34.042" idx="12">
    <p:pos x="2397" y="3459"/>
    <p:text>function myFunction() {
  document.getElementById("demo").innerHTML = "The content have been changed after clicking the button.";
}</p:text>
    <p:extLst>
      <p:ext uri="{C676402C-5697-4E1C-873F-D02D1690AC5C}">
        <p15:threadingInfo xmlns:p15="http://schemas.microsoft.com/office/powerpoint/2012/main" timeZoneBias="-330">
          <p15:parentCm authorId="1" idx="11"/>
        </p15:threadingInfo>
      </p:ext>
    </p:extLst>
  </p:cm>
  <p:cm authorId="1" dt="2026-01-21T15:18:34.050" idx="13">
    <p:pos x="2397" y="3555"/>
    <p:text>function myFunction() {
  document.getElementById("demo").innerHTML = "The content have been changed after clicking the button.";
}</p:text>
    <p:extLst>
      <p:ext uri="{C676402C-5697-4E1C-873F-D02D1690AC5C}">
        <p15:threadingInfo xmlns:p15="http://schemas.microsoft.com/office/powerpoint/2012/main" timeZoneBias="-330">
          <p15:parentCm authorId="1" idx="11"/>
        </p15:threadingInfo>
      </p:ext>
    </p:extLst>
  </p:cm>
  <p:cm authorId="1" dt="2026-01-21T15:18:34.056" idx="14">
    <p:pos x="2397" y="3651"/>
    <p:text>function myFunction() {
  document.getElementById("demo").innerHTML = "The content have been changed after clicking the button.";
}</p:text>
    <p:extLst>
      <p:ext uri="{C676402C-5697-4E1C-873F-D02D1690AC5C}">
        <p15:threadingInfo xmlns:p15="http://schemas.microsoft.com/office/powerpoint/2012/main" timeZoneBias="-330">
          <p15:parentCm authorId="1" idx="11"/>
        </p15:threadingInfo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1T15:25:00.910" idx="15">
    <p:pos x="2271" y="3261"/>
    <p:text>What does /js/myScript.js mean?
/ → root directory of your website
js → a folder named js
myScript.js → JavaScript file inside that folder</p:text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1T15:44:52.636" idx="16">
    <p:pos x="2016" y="2846"/>
    <p:text>A pop up window will come up while running the code.</p:text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1T15:57:17.999" idx="17">
    <p:pos x="1533" y="2117"/>
    <p:text>provides an output in console log of the browser, after clicking on inspect tab.</p:text>
    <p:extLst>
      <p:ext uri="{C676402C-5697-4E1C-873F-D02D1690AC5C}">
        <p15:threadingInfo xmlns:p15="http://schemas.microsoft.com/office/powerpoint/2012/main" timeZoneBias="-330"/>
      </p:ext>
    </p:extLst>
  </p:cm>
  <p:cm authorId="1" dt="2026-01-21T16:00:13.331" idx="18">
    <p:pos x="1533" y="2213"/>
    <p:text>console.log() is used to display messages or values in the browser console for debugging purposes.</p:text>
    <p:extLst>
      <p:ext uri="{C676402C-5697-4E1C-873F-D02D1690AC5C}">
        <p15:threadingInfo xmlns:p15="http://schemas.microsoft.com/office/powerpoint/2012/main" timeZoneBias="-330">
          <p15:parentCm authorId="1" idx="17"/>
        </p15:threadingInfo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" name="Google Shape;4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7013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4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4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4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4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4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" name="Google Shape;30;p4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3" descr="LOGO.gif"/>
          <p:cNvPicPr preferRelativeResize="0"/>
          <p:nvPr/>
        </p:nvPicPr>
        <p:blipFill rotWithShape="1">
          <a:blip r:embed="rId4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 descr="LOGO.gif"/>
          <p:cNvPicPr preferRelativeResize="0"/>
          <p:nvPr/>
        </p:nvPicPr>
        <p:blipFill rotWithShape="1">
          <a:blip r:embed="rId4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3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3" descr="LOGO.gif"/>
            <p:cNvPicPr preferRelativeResize="0"/>
            <p:nvPr/>
          </p:nvPicPr>
          <p:blipFill rotWithShape="1">
            <a:blip r:embed="rId4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3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" name="Google Shape;23;p3" descr="logo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/>
        </p:nvSpPr>
        <p:spPr>
          <a:xfrm>
            <a:off x="152400" y="914400"/>
            <a:ext cx="8763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 Class 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sz="3200" b="1" i="1" u="none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spcBef>
                <a:spcPts val="400"/>
              </a:spcBef>
            </a:pPr>
            <a:r>
              <a:rPr lang="en-US" sz="2000" b="1" i="1" dirty="0">
                <a:latin typeface="Times New Roman"/>
                <a:ea typeface="Times New Roman"/>
                <a:cs typeface="Times New Roman"/>
                <a:sym typeface="Times New Roman"/>
              </a:rPr>
              <a:t>JavaScript Basics: History &amp; Evolution of JavaScript's origins, the role of ECMAScript standards, ES6+ Overview, Variables- </a:t>
            </a:r>
            <a:r>
              <a:rPr lang="en-US" sz="2000" b="1" i="1" dirty="0" err="1">
                <a:latin typeface="Times New Roman"/>
                <a:ea typeface="Times New Roman"/>
                <a:cs typeface="Times New Roman"/>
                <a:sym typeface="Times New Roman"/>
              </a:rPr>
              <a:t>var</a:t>
            </a:r>
            <a:r>
              <a:rPr lang="en-US" sz="2000" b="1" i="1" dirty="0">
                <a:latin typeface="Times New Roman"/>
                <a:ea typeface="Times New Roman"/>
                <a:cs typeface="Times New Roman"/>
                <a:sym typeface="Times New Roman"/>
              </a:rPr>
              <a:t>, let, and </a:t>
            </a:r>
            <a:r>
              <a:rPr lang="en-US" sz="2000" b="1" i="1" dirty="0" err="1">
                <a:latin typeface="Times New Roman"/>
                <a:ea typeface="Times New Roman"/>
                <a:cs typeface="Times New Roman"/>
                <a:sym typeface="Times New Roman"/>
              </a:rPr>
              <a:t>const</a:t>
            </a:r>
            <a:r>
              <a:rPr lang="en-US" sz="2000" b="1" i="1" dirty="0">
                <a:latin typeface="Times New Roman"/>
                <a:ea typeface="Times New Roman"/>
                <a:cs typeface="Times New Roman"/>
                <a:sym typeface="Times New Roman"/>
              </a:rPr>
              <a:t> (mutability and scope implications), Data Types- Primitive Types: String, Number, Boolean, null, undefined, Symbol, and </a:t>
            </a:r>
            <a:r>
              <a:rPr lang="en-US" sz="2000" b="1" i="1" dirty="0" err="1">
                <a:latin typeface="Times New Roman"/>
                <a:ea typeface="Times New Roman"/>
                <a:cs typeface="Times New Roman"/>
                <a:sym typeface="Times New Roman"/>
              </a:rPr>
              <a:t>BigInt</a:t>
            </a:r>
            <a:r>
              <a:rPr lang="en-US" sz="2000" b="1" i="1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1905000" y="4953000"/>
            <a:ext cx="47625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Dr. </a:t>
            </a:r>
            <a:r>
              <a:rPr lang="en-US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Ashima</a:t>
            </a:r>
            <a:endParaRPr dirty="0"/>
          </a:p>
        </p:txBody>
      </p:sp>
      <p:sp>
        <p:nvSpPr>
          <p:cNvPr id="49" name="Google Shape;49;p1"/>
          <p:cNvSpPr txBox="1"/>
          <p:nvPr/>
        </p:nvSpPr>
        <p:spPr>
          <a:xfrm>
            <a:off x="1676400" y="5599331"/>
            <a:ext cx="6172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</p:txBody>
      </p:sp>
      <p:sp>
        <p:nvSpPr>
          <p:cNvPr id="52" name="Google Shape;52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F2B26-6B62-4D67-BDD9-3B9CC57CC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4254" y="3116688"/>
            <a:ext cx="5486400" cy="914400"/>
          </a:xfrm>
        </p:spPr>
        <p:txBody>
          <a:bodyPr/>
          <a:lstStyle/>
          <a:p>
            <a:r>
              <a:rPr lang="en-IN" dirty="0"/>
              <a:t>JavaScript Introduction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72141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771AED-D4C7-4F2E-B7FF-72362258B46E}"/>
              </a:ext>
            </a:extLst>
          </p:cNvPr>
          <p:cNvSpPr txBox="1"/>
          <p:nvPr/>
        </p:nvSpPr>
        <p:spPr>
          <a:xfrm>
            <a:off x="235527" y="1009904"/>
            <a:ext cx="70866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/>
              <a:t>JavaScript is the programming language of the web.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/>
              <a:t>It can calculate, manipulate and validate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/>
              <a:t>It can update and change both HTML and CSS.</a:t>
            </a:r>
            <a:endParaRPr lang="en-IN" sz="2100" dirty="0"/>
          </a:p>
        </p:txBody>
      </p:sp>
      <p:sp>
        <p:nvSpPr>
          <p:cNvPr id="2" name="Rectangle 1"/>
          <p:cNvSpPr/>
          <p:nvPr/>
        </p:nvSpPr>
        <p:spPr>
          <a:xfrm>
            <a:off x="235527" y="3169035"/>
            <a:ext cx="48750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/>
              <a:t>JavaScript Can Change HTML 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4020116"/>
            <a:ext cx="794385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One of many JavaScript HTML methods is </a:t>
            </a:r>
            <a:r>
              <a:rPr lang="en-IN" sz="2000" dirty="0" err="1"/>
              <a:t>getElementById</a:t>
            </a:r>
            <a:r>
              <a:rPr lang="en-IN" sz="2000" dirty="0"/>
              <a:t>().</a:t>
            </a:r>
          </a:p>
          <a:p>
            <a:endParaRPr lang="en-IN" sz="2000" dirty="0"/>
          </a:p>
          <a:p>
            <a:r>
              <a:rPr lang="en-IN" sz="2000" dirty="0"/>
              <a:t>The example below "finds" an HTML element (with id="demo"), and changes the element content (</a:t>
            </a:r>
            <a:r>
              <a:rPr lang="en-IN" sz="2000" dirty="0" err="1"/>
              <a:t>innerHTML</a:t>
            </a:r>
            <a:r>
              <a:rPr lang="en-IN" sz="2000" dirty="0"/>
              <a:t>) to "Hello JavaScript":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49999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67603" y="1166842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800" dirty="0"/>
              <a:t>&lt;!DOCTYPE html&gt;</a:t>
            </a:r>
          </a:p>
          <a:p>
            <a:r>
              <a:rPr lang="en-IN" sz="1800" dirty="0"/>
              <a:t>&lt;html&gt;</a:t>
            </a:r>
          </a:p>
          <a:p>
            <a:r>
              <a:rPr lang="en-IN" sz="1800" dirty="0"/>
              <a:t>&lt;body&gt;</a:t>
            </a:r>
          </a:p>
          <a:p>
            <a:endParaRPr lang="en-IN" sz="1800" dirty="0"/>
          </a:p>
          <a:p>
            <a:r>
              <a:rPr lang="en-IN" sz="1800" dirty="0"/>
              <a:t>&lt;h2&gt;What Can JavaScript Do?&lt;/h2&gt;</a:t>
            </a:r>
          </a:p>
          <a:p>
            <a:endParaRPr lang="en-IN" sz="1800" dirty="0"/>
          </a:p>
          <a:p>
            <a:r>
              <a:rPr lang="en-IN" sz="1800" dirty="0"/>
              <a:t>&lt;p id="demo"&gt;JavaScript can change HTML content.&lt;/p&gt;</a:t>
            </a:r>
          </a:p>
          <a:p>
            <a:endParaRPr lang="en-IN" sz="1800" dirty="0"/>
          </a:p>
          <a:p>
            <a:r>
              <a:rPr lang="en-IN" sz="1800" dirty="0"/>
              <a:t>&lt;button type="button" </a:t>
            </a:r>
            <a:r>
              <a:rPr lang="en-IN" sz="1800" dirty="0" err="1"/>
              <a:t>onclick</a:t>
            </a:r>
            <a:r>
              <a:rPr lang="en-IN" sz="1800" dirty="0"/>
              <a:t>='</a:t>
            </a:r>
            <a:r>
              <a:rPr lang="en-IN" sz="1800" dirty="0" err="1"/>
              <a:t>document.getElementById</a:t>
            </a:r>
            <a:r>
              <a:rPr lang="en-IN" sz="1800" dirty="0"/>
              <a:t>("demo").</a:t>
            </a:r>
            <a:r>
              <a:rPr lang="en-IN" sz="1800" dirty="0" err="1"/>
              <a:t>innerHTML</a:t>
            </a:r>
            <a:r>
              <a:rPr lang="en-IN" sz="1800" dirty="0"/>
              <a:t> = "Hello JavaScript!"'&gt;Click Me!&lt;/button&gt;</a:t>
            </a:r>
          </a:p>
          <a:p>
            <a:endParaRPr lang="en-IN" sz="1800" dirty="0"/>
          </a:p>
          <a:p>
            <a:r>
              <a:rPr lang="en-IN" sz="1800" dirty="0"/>
              <a:t>&lt;/body&gt;</a:t>
            </a:r>
          </a:p>
          <a:p>
            <a:r>
              <a:rPr lang="en-IN" sz="18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69177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76225" y="1037422"/>
            <a:ext cx="87058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+mj-lt"/>
              </a:rPr>
              <a:t>JavaScript accepts both double and single quotes:</a:t>
            </a:r>
          </a:p>
          <a:p>
            <a:endParaRPr lang="en-IN" sz="200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6225" y="4792206"/>
            <a:ext cx="841057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JavaScript Can Change HTML Attribute Values</a:t>
            </a:r>
          </a:p>
          <a:p>
            <a:endParaRPr lang="en-US" sz="2000" dirty="0"/>
          </a:p>
          <a:p>
            <a:r>
              <a:rPr lang="en-US" sz="2000" dirty="0"/>
              <a:t>In this example JavaScript changes the value of the </a:t>
            </a:r>
            <a:r>
              <a:rPr lang="en-US" sz="2000" dirty="0" err="1"/>
              <a:t>src</a:t>
            </a:r>
            <a:r>
              <a:rPr lang="en-US" sz="2000" dirty="0"/>
              <a:t> (source) attribute of an &lt;</a:t>
            </a:r>
            <a:r>
              <a:rPr lang="en-US" sz="2000" dirty="0" err="1"/>
              <a:t>img</a:t>
            </a:r>
            <a:r>
              <a:rPr lang="en-US" sz="2000" dirty="0"/>
              <a:t>&gt; tag:</a:t>
            </a:r>
          </a:p>
          <a:p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409575" y="1391365"/>
            <a:ext cx="4572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&lt;h2&gt;What Can JavaScript Do?&lt;/h2&gt;</a:t>
            </a:r>
          </a:p>
          <a:p>
            <a:endParaRPr lang="en-IN" dirty="0"/>
          </a:p>
          <a:p>
            <a:r>
              <a:rPr lang="en-IN" dirty="0"/>
              <a:t>&lt;p id="demo"&gt;JavaScript can change HTML content.&lt;/p&gt;</a:t>
            </a:r>
          </a:p>
          <a:p>
            <a:endParaRPr lang="en-IN" dirty="0"/>
          </a:p>
          <a:p>
            <a:r>
              <a:rPr lang="en-IN" dirty="0"/>
              <a:t>&lt;button type="button" onclick="</a:t>
            </a:r>
            <a:r>
              <a:rPr lang="en-IN" dirty="0" err="1"/>
              <a:t>document.getElementById</a:t>
            </a:r>
            <a:r>
              <a:rPr lang="en-IN" dirty="0"/>
              <a:t>('demo').</a:t>
            </a:r>
            <a:r>
              <a:rPr lang="en-IN" dirty="0" err="1"/>
              <a:t>innerHTML</a:t>
            </a:r>
            <a:r>
              <a:rPr lang="en-IN" dirty="0"/>
              <a:t> = 'Hello JavaScript!'"&gt;Click Me!&lt;/button&gt;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771641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D9FDCF-A479-4CA5-95BA-69B697D0165E}"/>
              </a:ext>
            </a:extLst>
          </p:cNvPr>
          <p:cNvSpPr txBox="1"/>
          <p:nvPr/>
        </p:nvSpPr>
        <p:spPr>
          <a:xfrm>
            <a:off x="317788" y="893872"/>
            <a:ext cx="83118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JavaScript Can Change HTML Styles (CSS)</a:t>
            </a:r>
          </a:p>
          <a:p>
            <a:r>
              <a:rPr lang="en-US" sz="1800" dirty="0"/>
              <a:t>Changing the style of an HTML element, is a variant of changing an HTML attribute:</a:t>
            </a:r>
            <a:endParaRPr lang="en-IN" sz="1800" dirty="0"/>
          </a:p>
        </p:txBody>
      </p:sp>
      <p:sp>
        <p:nvSpPr>
          <p:cNvPr id="2" name="Rectangle 1"/>
          <p:cNvSpPr/>
          <p:nvPr/>
        </p:nvSpPr>
        <p:spPr>
          <a:xfrm>
            <a:off x="317788" y="1967032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800" dirty="0"/>
              <a:t>&lt;!DOCTYPE html&gt;</a:t>
            </a:r>
          </a:p>
          <a:p>
            <a:r>
              <a:rPr lang="en-IN" sz="1800" dirty="0"/>
              <a:t>&lt;html&gt;</a:t>
            </a:r>
          </a:p>
          <a:p>
            <a:r>
              <a:rPr lang="en-IN" sz="1800" dirty="0"/>
              <a:t>&lt;body&gt;</a:t>
            </a:r>
          </a:p>
          <a:p>
            <a:endParaRPr lang="en-IN" sz="1800" dirty="0"/>
          </a:p>
          <a:p>
            <a:r>
              <a:rPr lang="en-IN" sz="1800" dirty="0"/>
              <a:t>&lt;h2&gt;What Can JavaScript Do?&lt;/h2&gt;</a:t>
            </a:r>
          </a:p>
          <a:p>
            <a:endParaRPr lang="en-IN" sz="1800" dirty="0"/>
          </a:p>
          <a:p>
            <a:r>
              <a:rPr lang="en-IN" sz="1800" dirty="0"/>
              <a:t>&lt;p id="demo"&gt;JavaScript can change the style of an HTML element.&lt;/p&gt;</a:t>
            </a:r>
          </a:p>
          <a:p>
            <a:endParaRPr lang="en-IN" sz="1800" dirty="0"/>
          </a:p>
          <a:p>
            <a:r>
              <a:rPr lang="en-IN" sz="1800" dirty="0"/>
              <a:t>&lt;button type="button" </a:t>
            </a:r>
            <a:r>
              <a:rPr lang="en-IN" sz="1800" dirty="0" err="1"/>
              <a:t>onclick</a:t>
            </a:r>
            <a:r>
              <a:rPr lang="en-IN" sz="1800" dirty="0"/>
              <a:t>="</a:t>
            </a:r>
            <a:r>
              <a:rPr lang="en-IN" sz="1800" dirty="0" err="1"/>
              <a:t>document.getElementById</a:t>
            </a:r>
            <a:r>
              <a:rPr lang="en-IN" sz="1800" dirty="0"/>
              <a:t>('demo').</a:t>
            </a:r>
            <a:r>
              <a:rPr lang="en-IN" sz="1800" dirty="0" err="1"/>
              <a:t>style.fontSize</a:t>
            </a:r>
            <a:r>
              <a:rPr lang="en-IN" sz="1800" dirty="0"/>
              <a:t>='35px'"&gt;Click Me!&lt;/button&gt;</a:t>
            </a:r>
          </a:p>
          <a:p>
            <a:endParaRPr lang="en-IN" sz="1800" dirty="0"/>
          </a:p>
          <a:p>
            <a:r>
              <a:rPr lang="en-IN" sz="1800" dirty="0"/>
              <a:t>&lt;/body&gt;</a:t>
            </a:r>
          </a:p>
          <a:p>
            <a:r>
              <a:rPr lang="en-IN" sz="1800" dirty="0"/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2656231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5274" y="964168"/>
            <a:ext cx="82581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JavaScript Can Hide HTML Elements</a:t>
            </a:r>
          </a:p>
          <a:p>
            <a:r>
              <a:rPr lang="en-US" sz="2000" dirty="0"/>
              <a:t>Hiding HTML elements can be done by changing the display style:</a:t>
            </a:r>
            <a:endParaRPr lang="en-IN" sz="2000" dirty="0"/>
          </a:p>
        </p:txBody>
      </p:sp>
      <p:sp>
        <p:nvSpPr>
          <p:cNvPr id="6" name="Rectangle 5"/>
          <p:cNvSpPr/>
          <p:nvPr/>
        </p:nvSpPr>
        <p:spPr>
          <a:xfrm>
            <a:off x="428625" y="1786057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800" dirty="0"/>
              <a:t>&lt;!DOCTYPE html&gt;</a:t>
            </a:r>
          </a:p>
          <a:p>
            <a:r>
              <a:rPr lang="en-IN" sz="1800" dirty="0"/>
              <a:t>&lt;html&gt;</a:t>
            </a:r>
          </a:p>
          <a:p>
            <a:r>
              <a:rPr lang="en-IN" sz="1800" dirty="0"/>
              <a:t>&lt;body&gt;</a:t>
            </a:r>
          </a:p>
          <a:p>
            <a:endParaRPr lang="en-IN" sz="1800" dirty="0"/>
          </a:p>
          <a:p>
            <a:r>
              <a:rPr lang="en-IN" sz="1800" dirty="0"/>
              <a:t>&lt;h2&gt;What Can JavaScript Do?&lt;/h2&gt;</a:t>
            </a:r>
          </a:p>
          <a:p>
            <a:endParaRPr lang="en-IN" sz="1800" dirty="0"/>
          </a:p>
          <a:p>
            <a:r>
              <a:rPr lang="en-IN" sz="1800" dirty="0"/>
              <a:t>&lt;p id="demo"&gt;JavaScript can hide HTML elements.&lt;/p&gt;</a:t>
            </a:r>
          </a:p>
          <a:p>
            <a:endParaRPr lang="en-IN" sz="1800" dirty="0"/>
          </a:p>
          <a:p>
            <a:r>
              <a:rPr lang="en-IN" sz="1800" dirty="0"/>
              <a:t>&lt;button type="button" </a:t>
            </a:r>
            <a:r>
              <a:rPr lang="en-IN" sz="1800" dirty="0" err="1"/>
              <a:t>onclick</a:t>
            </a:r>
            <a:r>
              <a:rPr lang="en-IN" sz="1800" dirty="0"/>
              <a:t>="</a:t>
            </a:r>
            <a:r>
              <a:rPr lang="en-IN" sz="1800" dirty="0" err="1"/>
              <a:t>document.getElementById</a:t>
            </a:r>
            <a:r>
              <a:rPr lang="en-IN" sz="1800" dirty="0"/>
              <a:t>('demo').</a:t>
            </a:r>
            <a:r>
              <a:rPr lang="en-IN" sz="1800" dirty="0" err="1"/>
              <a:t>style.display</a:t>
            </a:r>
            <a:r>
              <a:rPr lang="en-IN" sz="1800" dirty="0"/>
              <a:t>='none'"&gt;Click Me!&lt;/button&gt;</a:t>
            </a:r>
          </a:p>
          <a:p>
            <a:endParaRPr lang="en-IN" sz="1800" dirty="0"/>
          </a:p>
          <a:p>
            <a:r>
              <a:rPr lang="en-IN" sz="1800" dirty="0"/>
              <a:t>&lt;/body&gt;</a:t>
            </a:r>
          </a:p>
          <a:p>
            <a:r>
              <a:rPr lang="en-IN" sz="1800" dirty="0"/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880121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2900" y="964168"/>
            <a:ext cx="84201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JavaScript Can Show HTML Elements</a:t>
            </a:r>
          </a:p>
          <a:p>
            <a:r>
              <a:rPr lang="en-US" sz="2000" dirty="0"/>
              <a:t>Showing hidden HTML elements can also be done by changing the display style:</a:t>
            </a:r>
            <a:endParaRPr lang="en-IN" sz="2000" dirty="0"/>
          </a:p>
        </p:txBody>
      </p:sp>
      <p:sp>
        <p:nvSpPr>
          <p:cNvPr id="4" name="Rectangle 3"/>
          <p:cNvSpPr/>
          <p:nvPr/>
        </p:nvSpPr>
        <p:spPr>
          <a:xfrm>
            <a:off x="247650" y="2104013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/>
              <a:t>&lt;!DOCTYPE html&gt;</a:t>
            </a:r>
          </a:p>
          <a:p>
            <a:r>
              <a:rPr lang="en-IN" sz="1600" dirty="0"/>
              <a:t>&lt;html&gt;</a:t>
            </a:r>
          </a:p>
          <a:p>
            <a:r>
              <a:rPr lang="en-IN" sz="1600" dirty="0"/>
              <a:t>&lt;body&gt;</a:t>
            </a:r>
          </a:p>
          <a:p>
            <a:endParaRPr lang="en-IN" sz="1600" dirty="0"/>
          </a:p>
          <a:p>
            <a:r>
              <a:rPr lang="en-IN" sz="1600" dirty="0"/>
              <a:t>&lt;h2&gt;What Can JavaScript Do?&lt;/h2&gt;</a:t>
            </a:r>
          </a:p>
          <a:p>
            <a:endParaRPr lang="en-IN" sz="1600" dirty="0"/>
          </a:p>
          <a:p>
            <a:r>
              <a:rPr lang="en-IN" sz="1600" dirty="0"/>
              <a:t>&lt;p&gt;JavaScript can show hidden HTML elements.&lt;/p&gt;</a:t>
            </a:r>
          </a:p>
          <a:p>
            <a:endParaRPr lang="en-IN" sz="1600" dirty="0"/>
          </a:p>
          <a:p>
            <a:r>
              <a:rPr lang="en-IN" sz="1600" dirty="0"/>
              <a:t>&lt;p id="demo" style="</a:t>
            </a:r>
            <a:r>
              <a:rPr lang="en-IN" sz="1600" dirty="0" err="1"/>
              <a:t>display:none</a:t>
            </a:r>
            <a:r>
              <a:rPr lang="en-IN" sz="1600" dirty="0"/>
              <a:t>"&gt;Hello JavaScript!&lt;/p&gt;</a:t>
            </a:r>
          </a:p>
          <a:p>
            <a:endParaRPr lang="en-IN" sz="1600" dirty="0"/>
          </a:p>
          <a:p>
            <a:r>
              <a:rPr lang="en-IN" sz="1600" dirty="0"/>
              <a:t>&lt;button type="button" </a:t>
            </a:r>
            <a:r>
              <a:rPr lang="en-IN" sz="1600" dirty="0" err="1"/>
              <a:t>onclick</a:t>
            </a:r>
            <a:r>
              <a:rPr lang="en-IN" sz="1600" dirty="0"/>
              <a:t>="</a:t>
            </a:r>
            <a:r>
              <a:rPr lang="en-IN" sz="1600" dirty="0" err="1"/>
              <a:t>document.getElementById</a:t>
            </a:r>
            <a:r>
              <a:rPr lang="en-IN" sz="1600" dirty="0"/>
              <a:t>('demo').</a:t>
            </a:r>
            <a:r>
              <a:rPr lang="en-IN" sz="1600" dirty="0" err="1"/>
              <a:t>style.display</a:t>
            </a:r>
            <a:r>
              <a:rPr lang="en-IN" sz="1600" dirty="0"/>
              <a:t>='block'"&gt;Click Me!&lt;/button&gt;</a:t>
            </a:r>
          </a:p>
          <a:p>
            <a:endParaRPr lang="en-IN" sz="1600" dirty="0"/>
          </a:p>
          <a:p>
            <a:r>
              <a:rPr lang="en-IN" sz="1600" dirty="0"/>
              <a:t>&lt;/body&gt;</a:t>
            </a:r>
          </a:p>
          <a:p>
            <a:r>
              <a:rPr lang="en-IN" sz="1600" dirty="0"/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44734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5175" y="227112"/>
            <a:ext cx="44906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JavaScript Where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371475" y="1126092"/>
            <a:ext cx="785812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 &lt;script&gt; Tag</a:t>
            </a:r>
          </a:p>
          <a:p>
            <a:r>
              <a:rPr lang="en-US" sz="2000" dirty="0"/>
              <a:t>In HTML, JavaScript code is inserted between &lt;script&gt; and &lt;/script&gt; tags.</a:t>
            </a:r>
            <a:endParaRPr lang="en-IN" sz="2000" dirty="0"/>
          </a:p>
        </p:txBody>
      </p:sp>
      <p:sp>
        <p:nvSpPr>
          <p:cNvPr id="6" name="Rectangle 5"/>
          <p:cNvSpPr/>
          <p:nvPr/>
        </p:nvSpPr>
        <p:spPr>
          <a:xfrm>
            <a:off x="374049" y="2262307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800" dirty="0"/>
              <a:t>&lt;!DOCTYPE html&gt;</a:t>
            </a:r>
          </a:p>
          <a:p>
            <a:r>
              <a:rPr lang="en-IN" sz="1800" dirty="0"/>
              <a:t>&lt;html&gt;</a:t>
            </a:r>
          </a:p>
          <a:p>
            <a:r>
              <a:rPr lang="en-IN" sz="1800" dirty="0"/>
              <a:t>&lt;body&gt;</a:t>
            </a:r>
          </a:p>
          <a:p>
            <a:endParaRPr lang="en-IN" sz="1800" dirty="0"/>
          </a:p>
          <a:p>
            <a:r>
              <a:rPr lang="en-IN" sz="1800" dirty="0"/>
              <a:t>&lt;h2&gt;JavaScript in Body&lt;/h2&gt;</a:t>
            </a:r>
          </a:p>
          <a:p>
            <a:endParaRPr lang="en-IN" sz="1800" dirty="0"/>
          </a:p>
          <a:p>
            <a:r>
              <a:rPr lang="en-IN" sz="1800" dirty="0"/>
              <a:t>&lt;p id="demo"&gt;&lt;/p&gt;</a:t>
            </a:r>
          </a:p>
          <a:p>
            <a:endParaRPr lang="en-IN" sz="1800" dirty="0"/>
          </a:p>
          <a:p>
            <a:r>
              <a:rPr lang="en-IN" sz="1800" dirty="0"/>
              <a:t>&lt;script&gt;</a:t>
            </a:r>
          </a:p>
          <a:p>
            <a:r>
              <a:rPr lang="en-IN" sz="1800" dirty="0" err="1"/>
              <a:t>document.getElementById</a:t>
            </a:r>
            <a:r>
              <a:rPr lang="en-IN" sz="1800" dirty="0"/>
              <a:t>("demo").</a:t>
            </a:r>
            <a:r>
              <a:rPr lang="en-IN" sz="1800" dirty="0" err="1"/>
              <a:t>innerHTML</a:t>
            </a:r>
            <a:r>
              <a:rPr lang="en-IN" sz="1800" dirty="0"/>
              <a:t> = "My First JavaScript";</a:t>
            </a:r>
          </a:p>
          <a:p>
            <a:r>
              <a:rPr lang="en-IN" sz="1800" dirty="0"/>
              <a:t>&lt;/script&gt;</a:t>
            </a:r>
          </a:p>
          <a:p>
            <a:endParaRPr lang="en-IN" sz="1800" dirty="0"/>
          </a:p>
          <a:p>
            <a:r>
              <a:rPr lang="en-IN" sz="1800" dirty="0"/>
              <a:t>&lt;/body&gt;</a:t>
            </a:r>
          </a:p>
          <a:p>
            <a:r>
              <a:rPr lang="en-IN" sz="1800" dirty="0"/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3930219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099" y="303312"/>
            <a:ext cx="50225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/>
              <a:t>JavaScript Functions and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8628" y="1425684"/>
            <a:ext cx="779432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JavaScript function is a block of JavaScript code, that can be executed when "</a:t>
            </a:r>
            <a:r>
              <a:rPr lang="en-US" sz="2400" b="1" u="sng" dirty="0"/>
              <a:t>called</a:t>
            </a:r>
            <a:r>
              <a:rPr lang="en-US" sz="2400" dirty="0"/>
              <a:t>" for.</a:t>
            </a:r>
          </a:p>
          <a:p>
            <a:endParaRPr lang="en-US" sz="2400" dirty="0"/>
          </a:p>
          <a:p>
            <a:r>
              <a:rPr lang="en-US" sz="2400" dirty="0"/>
              <a:t>For example, a function can be called when an event occurs, like when the </a:t>
            </a:r>
            <a:r>
              <a:rPr lang="en-US" sz="2400" b="1" u="sng" dirty="0"/>
              <a:t>user clicks a button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91397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361950" y="1202978"/>
            <a:ext cx="83629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JavaScript in &lt;head&gt; or &lt;body&gt;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You can place </a:t>
            </a:r>
            <a:r>
              <a:rPr lang="en-US" sz="2800" b="1" u="sng" dirty="0"/>
              <a:t>any number </a:t>
            </a:r>
            <a:r>
              <a:rPr lang="en-US" sz="2800" dirty="0"/>
              <a:t>of scripts in an HTML document.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Scripts can be placed in the &lt;body&gt;, or in the &lt;head&gt; section of an HTML page, or in both.</a:t>
            </a:r>
            <a:endParaRPr lang="en-IN" sz="2800" dirty="0"/>
          </a:p>
        </p:txBody>
      </p:sp>
      <p:sp>
        <p:nvSpPr>
          <p:cNvPr id="12" name="Rectangle 11"/>
          <p:cNvSpPr/>
          <p:nvPr/>
        </p:nvSpPr>
        <p:spPr>
          <a:xfrm>
            <a:off x="523874" y="3765203"/>
            <a:ext cx="82010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JavaScript in &lt;head&gt;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In this example, a JavaScript function is placed in the &lt;head&gt; section of an HTML page.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function is invoked (called) when a </a:t>
            </a:r>
            <a:r>
              <a:rPr lang="en-US" sz="2800" b="1" u="sng" dirty="0"/>
              <a:t>button</a:t>
            </a:r>
            <a:r>
              <a:rPr lang="en-US" sz="2800" dirty="0"/>
              <a:t> is clicked: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48215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2425" y="914401"/>
            <a:ext cx="4572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800" dirty="0"/>
              <a:t>&lt;!DOCTYPE html&gt;</a:t>
            </a:r>
          </a:p>
          <a:p>
            <a:r>
              <a:rPr lang="en-IN" sz="1800" dirty="0"/>
              <a:t>&lt;html&gt;</a:t>
            </a:r>
          </a:p>
          <a:p>
            <a:r>
              <a:rPr lang="en-IN" sz="1800" dirty="0"/>
              <a:t>&lt;head&gt;</a:t>
            </a:r>
          </a:p>
          <a:p>
            <a:r>
              <a:rPr lang="en-IN" sz="1800" dirty="0"/>
              <a:t>&lt;script&gt;</a:t>
            </a:r>
          </a:p>
          <a:p>
            <a:r>
              <a:rPr lang="en-IN" sz="1800" dirty="0"/>
              <a:t>function </a:t>
            </a:r>
            <a:r>
              <a:rPr lang="en-IN" sz="1800" dirty="0" err="1"/>
              <a:t>myFunction</a:t>
            </a:r>
            <a:r>
              <a:rPr lang="en-IN" sz="1800" dirty="0"/>
              <a:t>() {</a:t>
            </a:r>
          </a:p>
          <a:p>
            <a:r>
              <a:rPr lang="en-IN" sz="1800" dirty="0"/>
              <a:t>  </a:t>
            </a:r>
            <a:r>
              <a:rPr lang="en-IN" sz="1800" dirty="0" err="1"/>
              <a:t>document.getElementById</a:t>
            </a:r>
            <a:r>
              <a:rPr lang="en-IN" sz="1800" dirty="0"/>
              <a:t>("demo").</a:t>
            </a:r>
            <a:r>
              <a:rPr lang="en-IN" sz="1800" dirty="0" err="1"/>
              <a:t>innerHTML</a:t>
            </a:r>
            <a:r>
              <a:rPr lang="en-IN" sz="1800" dirty="0"/>
              <a:t> = "Paragraph changed.";</a:t>
            </a:r>
          </a:p>
          <a:p>
            <a:r>
              <a:rPr lang="en-IN" sz="1800" dirty="0"/>
              <a:t>}</a:t>
            </a:r>
          </a:p>
          <a:p>
            <a:r>
              <a:rPr lang="en-IN" sz="1800" dirty="0"/>
              <a:t>&lt;/script&gt;</a:t>
            </a:r>
          </a:p>
          <a:p>
            <a:r>
              <a:rPr lang="en-IN" sz="1800" dirty="0"/>
              <a:t>&lt;/head&gt;</a:t>
            </a:r>
          </a:p>
          <a:p>
            <a:r>
              <a:rPr lang="en-IN" sz="1800" dirty="0"/>
              <a:t>&lt;body&gt;</a:t>
            </a:r>
          </a:p>
          <a:p>
            <a:r>
              <a:rPr lang="en-IN" sz="1800" dirty="0"/>
              <a:t>&lt;h2&gt;Demo JavaScript in Head&lt;/h2&gt;</a:t>
            </a:r>
          </a:p>
          <a:p>
            <a:endParaRPr lang="en-IN" sz="1800" dirty="0"/>
          </a:p>
          <a:p>
            <a:r>
              <a:rPr lang="en-IN" sz="1800" dirty="0"/>
              <a:t>&lt;p id="demo"&gt;A Paragraph&lt;/p&gt;</a:t>
            </a:r>
          </a:p>
          <a:p>
            <a:r>
              <a:rPr lang="en-IN" sz="1800" dirty="0"/>
              <a:t>&lt;button type="button" </a:t>
            </a:r>
            <a:r>
              <a:rPr lang="en-IN" sz="1800" dirty="0" err="1"/>
              <a:t>onclick</a:t>
            </a:r>
            <a:r>
              <a:rPr lang="en-IN" sz="1800" dirty="0"/>
              <a:t>="</a:t>
            </a:r>
            <a:r>
              <a:rPr lang="en-IN" sz="1800" dirty="0" err="1"/>
              <a:t>myFunction</a:t>
            </a:r>
            <a:r>
              <a:rPr lang="en-IN" sz="1800" dirty="0"/>
              <a:t>()"&gt;Try it&lt;/button&gt;</a:t>
            </a:r>
          </a:p>
          <a:p>
            <a:endParaRPr lang="en-IN" sz="1800" dirty="0"/>
          </a:p>
          <a:p>
            <a:r>
              <a:rPr lang="en-IN" sz="1800" dirty="0"/>
              <a:t>&lt;/body&gt;</a:t>
            </a:r>
          </a:p>
          <a:p>
            <a:r>
              <a:rPr lang="en-IN" sz="1800" dirty="0"/>
              <a:t>&lt;/html&gt;</a:t>
            </a:r>
          </a:p>
          <a:p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90747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95274" y="1145828"/>
            <a:ext cx="850582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JavaScript in &lt;body&gt;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this example, a JavaScript function is placed in the &lt;body&gt; section of an HTML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function is invoked (called) when a button is clicked: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6685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366AF-3EA6-6F4A-92B7-D8D57B4AC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0420B-13CF-6B64-FC17-1C4BFDC01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IN" sz="1800" dirty="0">
                <a:solidFill>
                  <a:schemeClr val="tx1"/>
                </a:solidFill>
                <a:latin typeface="+mj-lt"/>
              </a:rPr>
              <a:t>&lt;!DOCTYPE 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  <a:latin typeface="+mj-lt"/>
              </a:rPr>
              <a:t>&lt;html&gt;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  <a:latin typeface="+mj-lt"/>
              </a:rPr>
              <a:t>&lt;body&gt;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  <a:latin typeface="+mj-lt"/>
              </a:rPr>
              <a:t>&lt;h2&gt;Demo JavaScript in Body&lt;/h2&gt;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  <a:latin typeface="+mj-lt"/>
              </a:rPr>
              <a:t>&lt;p id="demo"&gt;A Paragraph&lt;/p&gt;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  <a:latin typeface="+mj-lt"/>
              </a:rPr>
              <a:t>&lt;button type="button" onclick="</a:t>
            </a:r>
            <a:r>
              <a:rPr lang="en-IN" sz="1800" dirty="0" err="1">
                <a:solidFill>
                  <a:schemeClr val="tx1"/>
                </a:solidFill>
                <a:latin typeface="+mj-lt"/>
              </a:rPr>
              <a:t>myFunction</a:t>
            </a:r>
            <a:r>
              <a:rPr lang="en-IN" sz="1800" dirty="0">
                <a:solidFill>
                  <a:schemeClr val="tx1"/>
                </a:solidFill>
                <a:latin typeface="+mj-lt"/>
              </a:rPr>
              <a:t>()"&gt;Try it&lt;/button&gt;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  <a:latin typeface="+mj-lt"/>
              </a:rPr>
              <a:t>&lt;script&gt;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  <a:latin typeface="+mj-lt"/>
              </a:rPr>
              <a:t>function </a:t>
            </a:r>
            <a:r>
              <a:rPr lang="en-IN" sz="1800" dirty="0" err="1">
                <a:solidFill>
                  <a:schemeClr val="tx1"/>
                </a:solidFill>
                <a:latin typeface="+mj-lt"/>
              </a:rPr>
              <a:t>myFunction</a:t>
            </a:r>
            <a:r>
              <a:rPr lang="en-IN" sz="1800" dirty="0">
                <a:solidFill>
                  <a:schemeClr val="tx1"/>
                </a:solidFill>
                <a:latin typeface="+mj-lt"/>
              </a:rPr>
              <a:t>() {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  <a:latin typeface="+mj-lt"/>
              </a:rPr>
              <a:t>  </a:t>
            </a:r>
            <a:r>
              <a:rPr lang="en-IN" sz="1800" dirty="0" err="1">
                <a:solidFill>
                  <a:schemeClr val="tx1"/>
                </a:solidFill>
                <a:latin typeface="+mj-lt"/>
              </a:rPr>
              <a:t>document.getElementById</a:t>
            </a:r>
            <a:r>
              <a:rPr lang="en-IN" sz="1800" dirty="0">
                <a:solidFill>
                  <a:schemeClr val="tx1"/>
                </a:solidFill>
                <a:latin typeface="+mj-lt"/>
              </a:rPr>
              <a:t>("demo").</a:t>
            </a:r>
            <a:r>
              <a:rPr lang="en-IN" sz="1800" dirty="0" err="1">
                <a:solidFill>
                  <a:schemeClr val="tx1"/>
                </a:solidFill>
                <a:latin typeface="+mj-lt"/>
              </a:rPr>
              <a:t>innerHTML</a:t>
            </a:r>
            <a:r>
              <a:rPr lang="en-IN" sz="1800" dirty="0">
                <a:solidFill>
                  <a:schemeClr val="tx1"/>
                </a:solidFill>
                <a:latin typeface="+mj-lt"/>
              </a:rPr>
              <a:t> = "Paragraph changed.";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  <a:latin typeface="+mj-lt"/>
              </a:rPr>
              <a:t>}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  <a:latin typeface="+mj-lt"/>
              </a:rPr>
              <a:t>&lt;/script&gt;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  <a:latin typeface="+mj-lt"/>
              </a:rPr>
              <a:t>&lt;/body&gt;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  <a:latin typeface="+mj-lt"/>
              </a:rPr>
              <a:t>&lt;/html&gt;</a:t>
            </a:r>
          </a:p>
          <a:p>
            <a:pPr algn="l"/>
            <a:endParaRPr lang="en-IN" sz="18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ABD5E-49CC-301F-4B70-4F4E9F2D8D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34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90525" y="783312"/>
            <a:ext cx="840105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Scripts can also be placed in external files: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External file: myScript.js</a:t>
            </a:r>
          </a:p>
          <a:p>
            <a:pPr lvl="8"/>
            <a:r>
              <a:rPr lang="en-US" sz="2400" dirty="0">
                <a:solidFill>
                  <a:srgbClr val="FF0000"/>
                </a:solidFill>
              </a:rPr>
              <a:t>function </a:t>
            </a:r>
            <a:r>
              <a:rPr lang="en-US" sz="2400" dirty="0" err="1">
                <a:solidFill>
                  <a:srgbClr val="FF0000"/>
                </a:solidFill>
              </a:rPr>
              <a:t>myFunction</a:t>
            </a:r>
            <a:r>
              <a:rPr lang="en-US" sz="2400" dirty="0">
                <a:solidFill>
                  <a:srgbClr val="FF0000"/>
                </a:solidFill>
              </a:rPr>
              <a:t>() {</a:t>
            </a:r>
          </a:p>
          <a:p>
            <a:pPr lvl="8"/>
            <a:r>
              <a:rPr lang="en-US" sz="2400" dirty="0">
                <a:solidFill>
                  <a:srgbClr val="FF0000"/>
                </a:solidFill>
              </a:rPr>
              <a:t>  </a:t>
            </a:r>
            <a:r>
              <a:rPr lang="en-US" sz="2400" dirty="0" err="1">
                <a:solidFill>
                  <a:srgbClr val="FF0000"/>
                </a:solidFill>
              </a:rPr>
              <a:t>document.getElementById</a:t>
            </a:r>
            <a:r>
              <a:rPr lang="en-US" sz="2400" dirty="0">
                <a:solidFill>
                  <a:srgbClr val="FF0000"/>
                </a:solidFill>
              </a:rPr>
              <a:t>("demo").</a:t>
            </a:r>
            <a:r>
              <a:rPr lang="en-US" sz="2400" dirty="0" err="1">
                <a:solidFill>
                  <a:srgbClr val="FF0000"/>
                </a:solidFill>
              </a:rPr>
              <a:t>innerHTML</a:t>
            </a:r>
            <a:r>
              <a:rPr lang="en-US" sz="2400" dirty="0">
                <a:solidFill>
                  <a:srgbClr val="FF0000"/>
                </a:solidFill>
              </a:rPr>
              <a:t> = "Paragraph changed.";</a:t>
            </a:r>
          </a:p>
          <a:p>
            <a:pPr lvl="8"/>
            <a:r>
              <a:rPr lang="en-US" sz="2400" dirty="0">
                <a:solidFill>
                  <a:srgbClr val="FF0000"/>
                </a:solidFill>
              </a:rPr>
              <a:t>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External scripts are practical when the same code is used in many different web pages.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JavaScript files have the file extension .</a:t>
            </a:r>
            <a:r>
              <a:rPr lang="en-US" sz="2400" dirty="0" err="1"/>
              <a:t>js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use an external script, put the name of the script file in the </a:t>
            </a:r>
            <a:r>
              <a:rPr lang="en-US" sz="2400" dirty="0" err="1"/>
              <a:t>src</a:t>
            </a:r>
            <a:r>
              <a:rPr lang="en-US" sz="2400" dirty="0"/>
              <a:t> (source) attribute of a &lt;script&gt; tag:</a:t>
            </a:r>
            <a:endParaRPr lang="en-IN" sz="2400" dirty="0"/>
          </a:p>
        </p:txBody>
      </p:sp>
      <p:sp>
        <p:nvSpPr>
          <p:cNvPr id="6" name="Rectangle 5"/>
          <p:cNvSpPr/>
          <p:nvPr/>
        </p:nvSpPr>
        <p:spPr>
          <a:xfrm>
            <a:off x="291704" y="198537"/>
            <a:ext cx="39885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External JavaScript</a:t>
            </a:r>
          </a:p>
        </p:txBody>
      </p:sp>
    </p:spTree>
    <p:extLst>
      <p:ext uri="{BB962C8B-B14F-4D97-AF65-F5344CB8AC3E}">
        <p14:creationId xmlns:p14="http://schemas.microsoft.com/office/powerpoint/2010/main" val="1990925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BE89F-CB58-1933-AE40-574D7444E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6553200" cy="914400"/>
          </a:xfrm>
        </p:spPr>
        <p:txBody>
          <a:bodyPr/>
          <a:lstStyle/>
          <a:p>
            <a:r>
              <a:rPr lang="en-IN" dirty="0"/>
              <a:t>Difference b/w Internal and External Java 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C712BA-4ED5-CFC2-3E37-B91083A39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4FCE9-A2C4-176A-9909-85099B515E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052BA9-8A0A-6240-4E2A-5712F6D6A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719980"/>
              </p:ext>
            </p:extLst>
          </p:nvPr>
        </p:nvGraphicFramePr>
        <p:xfrm>
          <a:off x="38100" y="1138335"/>
          <a:ext cx="9144000" cy="5563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459">
                  <a:extLst>
                    <a:ext uri="{9D8B030D-6E8A-4147-A177-3AD203B41FA5}">
                      <a16:colId xmlns:a16="http://schemas.microsoft.com/office/drawing/2014/main" val="1741825629"/>
                    </a:ext>
                  </a:extLst>
                </a:gridCol>
                <a:gridCol w="2336541">
                  <a:extLst>
                    <a:ext uri="{9D8B030D-6E8A-4147-A177-3AD203B41FA5}">
                      <a16:colId xmlns:a16="http://schemas.microsoft.com/office/drawing/2014/main" val="166910338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965471188"/>
                    </a:ext>
                  </a:extLst>
                </a:gridCol>
              </a:tblGrid>
              <a:tr h="470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j-lt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Internal JavaScript</a:t>
                      </a:r>
                      <a:endParaRPr lang="en-IN" sz="1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External JavaScript</a:t>
                      </a:r>
                      <a:endParaRPr lang="en-IN" sz="1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027622"/>
                  </a:ext>
                </a:extLst>
              </a:tr>
              <a:tr h="684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+mj-lt"/>
                        </a:rPr>
                        <a:t>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+mj-lt"/>
                        </a:rPr>
                        <a:t>JavaScript code written inside the HTML file</a:t>
                      </a:r>
                      <a:endParaRPr lang="en-IN" sz="1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latin typeface="+mj-lt"/>
                        </a:rPr>
                        <a:t>JavaScript code written in a separate </a:t>
                      </a:r>
                      <a:r>
                        <a:rPr lang="en-GB" sz="1800" b="0" i="0" u="none" strike="noStrike" cap="none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.js</a:t>
                      </a:r>
                      <a:r>
                        <a:rPr lang="en-GB" sz="1800">
                          <a:latin typeface="+mj-lt"/>
                        </a:rPr>
                        <a:t> file</a:t>
                      </a:r>
                      <a:endParaRPr lang="en-IN" sz="1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159112"/>
                  </a:ext>
                </a:extLst>
              </a:tr>
              <a:tr h="97823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+mj-lt"/>
                        </a:rP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+mj-lt"/>
                        </a:rPr>
                        <a:t>I</a:t>
                      </a:r>
                      <a:r>
                        <a:rPr lang="en-GB" sz="1800" dirty="0" err="1">
                          <a:latin typeface="+mj-lt"/>
                        </a:rPr>
                        <a:t>nside</a:t>
                      </a:r>
                      <a:r>
                        <a:rPr lang="en-GB" sz="1800" dirty="0">
                          <a:latin typeface="+mj-lt"/>
                        </a:rPr>
                        <a:t> </a:t>
                      </a:r>
                      <a:r>
                        <a:rPr lang="en-GB" sz="1800" b="0" i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&lt;script&gt;</a:t>
                      </a:r>
                      <a:r>
                        <a:rPr lang="en-GB" sz="1800" dirty="0">
                          <a:latin typeface="+mj-lt"/>
                        </a:rPr>
                        <a:t> tags in the HTML document</a:t>
                      </a:r>
                      <a:endParaRPr lang="en-IN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+mj-lt"/>
                        </a:rPr>
                        <a:t>Stored in an external file and linked using </a:t>
                      </a:r>
                      <a:r>
                        <a:rPr lang="en-GB" sz="1800" b="0" i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&lt;script </a:t>
                      </a:r>
                      <a:r>
                        <a:rPr lang="en-GB" sz="1800" b="0" i="0" u="none" strike="noStrike" cap="none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src</a:t>
                      </a:r>
                      <a:r>
                        <a:rPr lang="en-GB" sz="1800" b="0" i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=""&gt;</a:t>
                      </a:r>
                      <a:endParaRPr lang="en-IN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432963"/>
                  </a:ext>
                </a:extLst>
              </a:tr>
              <a:tr h="46120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+mj-lt"/>
                        </a:rPr>
                        <a:t>File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+mj-lt"/>
                        </a:rPr>
                        <a:t>No separate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+mj-lt"/>
                        </a:rPr>
                        <a:t>.</a:t>
                      </a:r>
                      <a:r>
                        <a:rPr lang="en-IN" sz="1800" dirty="0" err="1">
                          <a:latin typeface="+mj-lt"/>
                        </a:rPr>
                        <a:t>js</a:t>
                      </a:r>
                      <a:endParaRPr lang="en-IN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452778"/>
                  </a:ext>
                </a:extLst>
              </a:tr>
              <a:tr h="684767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+mj-lt"/>
                        </a:rPr>
                        <a:t>Reusability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+mj-lt"/>
                        </a:rPr>
                        <a:t>Not reusable across multiple pages</a:t>
                      </a:r>
                      <a:endParaRPr lang="en-IN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+mj-lt"/>
                        </a:rPr>
                        <a:t>Can be reused in many HTML pages</a:t>
                      </a:r>
                      <a:endParaRPr lang="en-IN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378591"/>
                  </a:ext>
                </a:extLst>
              </a:tr>
              <a:tr h="684767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+mj-lt"/>
                        </a:rPr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+mj-lt"/>
                        </a:rPr>
                        <a:t>Harder to maintain for large projects</a:t>
                      </a:r>
                      <a:endParaRPr lang="en-IN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+mj-lt"/>
                        </a:rPr>
                        <a:t>Easier to maintain and update</a:t>
                      </a:r>
                      <a:endParaRPr lang="en-IN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533991"/>
                  </a:ext>
                </a:extLst>
              </a:tr>
              <a:tr h="684767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+mj-lt"/>
                        </a:rPr>
                        <a:t>Page loading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+mj-lt"/>
                        </a:rPr>
                        <a:t>Slower for large 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+mj-lt"/>
                        </a:rPr>
                        <a:t>Faster (browser can cache the file)</a:t>
                      </a:r>
                      <a:endParaRPr lang="en-IN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254000"/>
                  </a:ext>
                </a:extLst>
              </a:tr>
              <a:tr h="684767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+mj-lt"/>
                        </a:rPr>
                        <a:t>Best used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j-lt"/>
                        </a:rPr>
                        <a:t>Small scripts, demos,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+mj-lt"/>
                        </a:rPr>
                        <a:t>Large projects, real websites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19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5037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1A217-76E9-750B-7968-01013566A4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Which on is better?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93197-7D17-5128-1F9C-6E9C66E5E3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GB" sz="1800" dirty="0">
                <a:solidFill>
                  <a:schemeClr val="tx1"/>
                </a:solidFill>
                <a:latin typeface="+mj-lt"/>
              </a:rPr>
              <a:t>External JavaScript is better in most cases.</a:t>
            </a:r>
          </a:p>
          <a:p>
            <a:pPr algn="l"/>
            <a:endParaRPr lang="en-GB" sz="1800" dirty="0">
              <a:solidFill>
                <a:schemeClr val="tx1"/>
              </a:solidFill>
              <a:latin typeface="+mj-lt"/>
            </a:endParaRPr>
          </a:p>
          <a:p>
            <a:pPr algn="l"/>
            <a:r>
              <a:rPr lang="en-GB" sz="1800" b="1" dirty="0">
                <a:solidFill>
                  <a:schemeClr val="tx1"/>
                </a:solidFill>
                <a:latin typeface="+mj-lt"/>
              </a:rPr>
              <a:t>Reusability</a:t>
            </a:r>
            <a:r>
              <a:rPr lang="en-GB" sz="1800" dirty="0">
                <a:solidFill>
                  <a:schemeClr val="tx1"/>
                </a:solidFill>
                <a:latin typeface="+mj-lt"/>
              </a:rPr>
              <a:t> – Same .</a:t>
            </a:r>
            <a:r>
              <a:rPr lang="en-GB" sz="1800" dirty="0" err="1">
                <a:solidFill>
                  <a:schemeClr val="tx1"/>
                </a:solidFill>
                <a:latin typeface="+mj-lt"/>
              </a:rPr>
              <a:t>js</a:t>
            </a:r>
            <a:r>
              <a:rPr lang="en-GB" sz="1800" dirty="0">
                <a:solidFill>
                  <a:schemeClr val="tx1"/>
                </a:solidFill>
                <a:latin typeface="+mj-lt"/>
              </a:rPr>
              <a:t> file can be used in multiple pages</a:t>
            </a:r>
          </a:p>
          <a:p>
            <a:pPr algn="l"/>
            <a:r>
              <a:rPr lang="en-GB" sz="1800" b="1" dirty="0">
                <a:solidFill>
                  <a:schemeClr val="tx1"/>
                </a:solidFill>
                <a:latin typeface="+mj-lt"/>
              </a:rPr>
              <a:t>Easy maintenance</a:t>
            </a:r>
            <a:r>
              <a:rPr lang="en-GB" sz="1800" dirty="0">
                <a:solidFill>
                  <a:schemeClr val="tx1"/>
                </a:solidFill>
                <a:latin typeface="+mj-lt"/>
              </a:rPr>
              <a:t> – Changes in one file update all pages</a:t>
            </a:r>
          </a:p>
          <a:p>
            <a:pPr algn="l"/>
            <a:r>
              <a:rPr lang="en-GB" sz="1800" b="1" dirty="0">
                <a:solidFill>
                  <a:schemeClr val="tx1"/>
                </a:solidFill>
                <a:latin typeface="+mj-lt"/>
              </a:rPr>
              <a:t>Better performance</a:t>
            </a:r>
            <a:r>
              <a:rPr lang="en-GB" sz="1800" dirty="0">
                <a:solidFill>
                  <a:schemeClr val="tx1"/>
                </a:solidFill>
                <a:latin typeface="+mj-lt"/>
              </a:rPr>
              <a:t> – Browser can cache the file</a:t>
            </a:r>
          </a:p>
          <a:p>
            <a:pPr algn="l"/>
            <a:r>
              <a:rPr lang="en-GB" sz="1800" b="1" dirty="0">
                <a:solidFill>
                  <a:schemeClr val="tx1"/>
                </a:solidFill>
                <a:latin typeface="+mj-lt"/>
              </a:rPr>
              <a:t>Cleaner code</a:t>
            </a:r>
            <a:r>
              <a:rPr lang="en-GB" sz="1800" dirty="0">
                <a:solidFill>
                  <a:schemeClr val="tx1"/>
                </a:solidFill>
                <a:latin typeface="+mj-lt"/>
              </a:rPr>
              <a:t> – Separates HTML (structure) and JavaScript (logic)</a:t>
            </a:r>
          </a:p>
          <a:p>
            <a:pPr algn="l"/>
            <a:r>
              <a:rPr lang="en-GB" sz="1800" b="1" dirty="0">
                <a:solidFill>
                  <a:schemeClr val="tx1"/>
                </a:solidFill>
                <a:latin typeface="+mj-lt"/>
              </a:rPr>
              <a:t>Professional standard</a:t>
            </a:r>
            <a:r>
              <a:rPr lang="en-GB" sz="1800" dirty="0">
                <a:solidFill>
                  <a:schemeClr val="tx1"/>
                </a:solidFill>
                <a:latin typeface="+mj-lt"/>
              </a:rPr>
              <a:t> – Used in real-world and large projects</a:t>
            </a:r>
          </a:p>
          <a:p>
            <a:pPr algn="l"/>
            <a:endParaRPr lang="en-GB" sz="1800">
              <a:solidFill>
                <a:schemeClr val="tx1"/>
              </a:solidFill>
              <a:latin typeface="+mj-lt"/>
            </a:endParaRPr>
          </a:p>
          <a:p>
            <a:pPr algn="l"/>
            <a:r>
              <a:rPr lang="en-GB" sz="1800">
                <a:solidFill>
                  <a:schemeClr val="tx1"/>
                </a:solidFill>
                <a:latin typeface="+mj-lt"/>
              </a:rPr>
              <a:t>👉 </a:t>
            </a:r>
            <a:r>
              <a:rPr lang="en-GB" sz="1800" b="1" dirty="0">
                <a:solidFill>
                  <a:schemeClr val="tx1"/>
                </a:solidFill>
                <a:latin typeface="+mj-lt"/>
              </a:rPr>
              <a:t>Recommended for:</a:t>
            </a:r>
            <a:r>
              <a:rPr lang="en-GB" sz="1800" dirty="0">
                <a:solidFill>
                  <a:schemeClr val="tx1"/>
                </a:solidFill>
                <a:latin typeface="+mj-lt"/>
              </a:rPr>
              <a:t> websites, applications, large projects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BDBB0-60B7-1111-0537-AFA7B67D39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751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919966"/>
            <a:ext cx="4572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800" dirty="0"/>
              <a:t>&lt;!DOCTYPE html&gt;</a:t>
            </a:r>
          </a:p>
          <a:p>
            <a:r>
              <a:rPr lang="en-IN" sz="1800" dirty="0"/>
              <a:t>&lt;html&gt;</a:t>
            </a:r>
          </a:p>
          <a:p>
            <a:r>
              <a:rPr lang="en-IN" sz="1800" dirty="0"/>
              <a:t>&lt;body&gt;</a:t>
            </a:r>
          </a:p>
          <a:p>
            <a:endParaRPr lang="en-IN" sz="1800" dirty="0"/>
          </a:p>
          <a:p>
            <a:r>
              <a:rPr lang="en-IN" sz="1800" dirty="0"/>
              <a:t>&lt;h2&gt;Demo External JavaScript&lt;/h2&gt;</a:t>
            </a:r>
          </a:p>
          <a:p>
            <a:endParaRPr lang="en-IN" sz="1800" dirty="0"/>
          </a:p>
          <a:p>
            <a:r>
              <a:rPr lang="en-IN" sz="1800" dirty="0"/>
              <a:t>&lt;p id="demo"&gt;A Paragraph.&lt;/p&gt;</a:t>
            </a:r>
          </a:p>
          <a:p>
            <a:endParaRPr lang="en-IN" sz="1800" dirty="0"/>
          </a:p>
          <a:p>
            <a:r>
              <a:rPr lang="en-IN" sz="1800" dirty="0"/>
              <a:t>&lt;button type="button" </a:t>
            </a:r>
            <a:r>
              <a:rPr lang="en-IN" sz="1800" dirty="0" err="1"/>
              <a:t>onclick</a:t>
            </a:r>
            <a:r>
              <a:rPr lang="en-IN" sz="1800" dirty="0"/>
              <a:t>="</a:t>
            </a:r>
            <a:r>
              <a:rPr lang="en-IN" sz="1800" dirty="0" err="1"/>
              <a:t>myFunction</a:t>
            </a:r>
            <a:r>
              <a:rPr lang="en-IN" sz="1800" dirty="0"/>
              <a:t>()"&gt;Try it&lt;/button&gt;</a:t>
            </a:r>
          </a:p>
          <a:p>
            <a:endParaRPr lang="en-IN" sz="1800" dirty="0"/>
          </a:p>
          <a:p>
            <a:r>
              <a:rPr lang="en-IN" sz="1800" dirty="0"/>
              <a:t>&lt;p&gt;This example links to "myScript.js".&lt;/p&gt;</a:t>
            </a:r>
          </a:p>
          <a:p>
            <a:r>
              <a:rPr lang="en-IN" sz="1800" dirty="0"/>
              <a:t>&lt;p&gt;(</a:t>
            </a:r>
            <a:r>
              <a:rPr lang="en-IN" sz="1800" dirty="0" err="1"/>
              <a:t>myFunction</a:t>
            </a:r>
            <a:r>
              <a:rPr lang="en-IN" sz="1800" dirty="0"/>
              <a:t> is stored in "myScript.js")&lt;/p&gt;</a:t>
            </a:r>
          </a:p>
          <a:p>
            <a:endParaRPr lang="en-IN" sz="1800" dirty="0"/>
          </a:p>
          <a:p>
            <a:r>
              <a:rPr lang="en-IN" sz="1800" dirty="0"/>
              <a:t>&lt;script </a:t>
            </a:r>
            <a:r>
              <a:rPr lang="en-IN" sz="1800" dirty="0" err="1"/>
              <a:t>src</a:t>
            </a:r>
            <a:r>
              <a:rPr lang="en-IN" sz="1800" dirty="0"/>
              <a:t>="myScript.js"&gt;&lt;/script&gt;</a:t>
            </a:r>
          </a:p>
          <a:p>
            <a:endParaRPr lang="en-IN" sz="1800" dirty="0"/>
          </a:p>
          <a:p>
            <a:r>
              <a:rPr lang="en-IN" sz="1800" dirty="0"/>
              <a:t>&lt;/body&gt;</a:t>
            </a:r>
          </a:p>
          <a:p>
            <a:r>
              <a:rPr lang="en-IN" sz="18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09496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04825" y="989588"/>
            <a:ext cx="809625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You can place an external script reference in &lt;head&gt; or &lt;body&gt; as you like.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script will behave as if it was located exactly where the &lt;script&gt; tag is located.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External scripts cannot contain &lt;script&gt; tags.</a:t>
            </a:r>
          </a:p>
          <a:p>
            <a:endParaRPr lang="en-US" sz="2000" dirty="0"/>
          </a:p>
          <a:p>
            <a:r>
              <a:rPr lang="en-US" sz="2000" b="1" dirty="0"/>
              <a:t>External JavaScript Advantages</a:t>
            </a:r>
          </a:p>
          <a:p>
            <a:r>
              <a:rPr lang="en-US" sz="2000" dirty="0"/>
              <a:t>Placing scripts in external files has some advantages: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separates HTML and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makes HTML and JavaScript easier to read and maintain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Cached JavaScript files can speed up page loads</a:t>
            </a:r>
          </a:p>
          <a:p>
            <a:endParaRPr lang="en-US" sz="2000" dirty="0"/>
          </a:p>
          <a:p>
            <a:r>
              <a:rPr lang="en-US" sz="2000" dirty="0"/>
              <a:t>To add several script files to one page  - use several script tags:</a:t>
            </a:r>
            <a:endParaRPr lang="en-IN" sz="2000" dirty="0"/>
          </a:p>
        </p:txBody>
      </p:sp>
      <p:sp>
        <p:nvSpPr>
          <p:cNvPr id="7" name="Rectangle 6"/>
          <p:cNvSpPr/>
          <p:nvPr/>
        </p:nvSpPr>
        <p:spPr>
          <a:xfrm>
            <a:off x="581024" y="5872490"/>
            <a:ext cx="71913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999999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990055"/>
                </a:solidFill>
                <a:latin typeface="Consolas" panose="020B0609020204030204" pitchFamily="49" charset="0"/>
              </a:rPr>
              <a:t>script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IN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src</a:t>
            </a: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="myScript1.js"</a:t>
            </a:r>
            <a:r>
              <a:rPr lang="en-IN" sz="1800" dirty="0">
                <a:solidFill>
                  <a:srgbClr val="999999"/>
                </a:solidFill>
                <a:latin typeface="Consolas" panose="020B0609020204030204" pitchFamily="49" charset="0"/>
              </a:rPr>
              <a:t>&gt;&lt;</a:t>
            </a:r>
            <a:r>
              <a:rPr lang="en-IN" sz="1800" dirty="0">
                <a:solidFill>
                  <a:srgbClr val="990055"/>
                </a:solidFill>
                <a:latin typeface="Consolas" panose="020B0609020204030204" pitchFamily="49" charset="0"/>
              </a:rPr>
              <a:t>/script</a:t>
            </a:r>
            <a:r>
              <a:rPr lang="en-IN" sz="1800" dirty="0">
                <a:solidFill>
                  <a:srgbClr val="999999"/>
                </a:solidFill>
                <a:latin typeface="Consolas" panose="020B0609020204030204" pitchFamily="49" charset="0"/>
              </a:rPr>
              <a:t>&gt;</a:t>
            </a:r>
            <a:br>
              <a:rPr lang="en-IN" sz="1800" dirty="0"/>
            </a:br>
            <a:r>
              <a:rPr lang="en-IN" sz="1800" dirty="0">
                <a:solidFill>
                  <a:srgbClr val="999999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990055"/>
                </a:solidFill>
                <a:latin typeface="Consolas" panose="020B0609020204030204" pitchFamily="49" charset="0"/>
              </a:rPr>
              <a:t>script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IN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src</a:t>
            </a: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="myScript2.js"</a:t>
            </a:r>
            <a:r>
              <a:rPr lang="en-IN" sz="1800" dirty="0">
                <a:solidFill>
                  <a:srgbClr val="999999"/>
                </a:solidFill>
                <a:latin typeface="Consolas" panose="020B0609020204030204" pitchFamily="49" charset="0"/>
              </a:rPr>
              <a:t>&gt;&lt;</a:t>
            </a:r>
            <a:r>
              <a:rPr lang="en-IN" sz="1800" dirty="0">
                <a:solidFill>
                  <a:srgbClr val="990055"/>
                </a:solidFill>
                <a:latin typeface="Consolas" panose="020B0609020204030204" pitchFamily="49" charset="0"/>
              </a:rPr>
              <a:t>/script</a:t>
            </a:r>
            <a:r>
              <a:rPr lang="en-IN" sz="1800" dirty="0">
                <a:solidFill>
                  <a:srgbClr val="999999"/>
                </a:solidFill>
                <a:latin typeface="Consolas" panose="020B0609020204030204" pitchFamily="49" charset="0"/>
              </a:rPr>
              <a:t>&gt;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340158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66BB39-346F-408B-9313-1E5E28285016}"/>
              </a:ext>
            </a:extLst>
          </p:cNvPr>
          <p:cNvSpPr txBox="1"/>
          <p:nvPr/>
        </p:nvSpPr>
        <p:spPr>
          <a:xfrm>
            <a:off x="436418" y="1160400"/>
            <a:ext cx="8104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This example uses a </a:t>
            </a:r>
            <a:r>
              <a:rPr lang="en-US" sz="1800" b="1" dirty="0"/>
              <a:t>file path</a:t>
            </a:r>
            <a:r>
              <a:rPr lang="en-US" sz="1800" dirty="0"/>
              <a:t> to link to myScript.js:</a:t>
            </a:r>
            <a:r>
              <a:rPr lang="en-IN" sz="1800" dirty="0"/>
              <a:t>.</a:t>
            </a:r>
          </a:p>
        </p:txBody>
      </p:sp>
      <p:sp>
        <p:nvSpPr>
          <p:cNvPr id="2" name="Rectangle 1"/>
          <p:cNvSpPr/>
          <p:nvPr/>
        </p:nvSpPr>
        <p:spPr>
          <a:xfrm>
            <a:off x="514350" y="2107645"/>
            <a:ext cx="4572000" cy="418576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&lt;h2&gt;External JavaScript&lt;/h2&gt;</a:t>
            </a:r>
          </a:p>
          <a:p>
            <a:endParaRPr lang="en-IN" dirty="0"/>
          </a:p>
          <a:p>
            <a:r>
              <a:rPr lang="en-IN" dirty="0"/>
              <a:t>&lt;p id="demo"&gt;A Paragraph.&lt;/p&gt;</a:t>
            </a:r>
          </a:p>
          <a:p>
            <a:endParaRPr lang="en-IN" dirty="0"/>
          </a:p>
          <a:p>
            <a:r>
              <a:rPr lang="en-IN" dirty="0"/>
              <a:t>&lt;button type="button" </a:t>
            </a:r>
            <a:r>
              <a:rPr lang="en-IN" dirty="0" err="1"/>
              <a:t>onclick</a:t>
            </a:r>
            <a:r>
              <a:rPr lang="en-IN" dirty="0"/>
              <a:t>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endParaRPr lang="en-IN" dirty="0"/>
          </a:p>
          <a:p>
            <a:r>
              <a:rPr lang="en-IN" dirty="0"/>
              <a:t>&lt;p&gt;This example uses a file path to link to "myScript.js".&lt;/p&gt;</a:t>
            </a:r>
          </a:p>
          <a:p>
            <a:r>
              <a:rPr lang="en-IN" dirty="0"/>
              <a:t>&lt;p&gt;(</a:t>
            </a:r>
            <a:r>
              <a:rPr lang="en-IN" dirty="0" err="1"/>
              <a:t>myFunction</a:t>
            </a:r>
            <a:r>
              <a:rPr lang="en-IN" dirty="0"/>
              <a:t> is stored in "myScript.js")&lt;/p&gt;</a:t>
            </a:r>
          </a:p>
          <a:p>
            <a:endParaRPr lang="en-IN" dirty="0"/>
          </a:p>
          <a:p>
            <a:r>
              <a:rPr lang="en-IN" dirty="0"/>
              <a:t>&lt;script </a:t>
            </a:r>
            <a:r>
              <a:rPr lang="en-IN" dirty="0" err="1"/>
              <a:t>src</a:t>
            </a:r>
            <a:r>
              <a:rPr lang="en-IN" dirty="0"/>
              <a:t>="/</a:t>
            </a:r>
            <a:r>
              <a:rPr lang="en-IN" dirty="0" err="1"/>
              <a:t>js</a:t>
            </a:r>
            <a:r>
              <a:rPr lang="en-IN" dirty="0"/>
              <a:t>/myScript.js"&gt;&lt;/script&gt;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550540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2857500"/>
            <a:ext cx="8153400" cy="76200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JavaScript Output</a:t>
            </a:r>
          </a:p>
          <a:p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06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19075" y="1023596"/>
            <a:ext cx="8677275" cy="48679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JavaScript Display Possibilities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JavaScript can "display" data in different ways: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Writing into an HTML element, using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innerHTML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or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innerText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Writing into the HTML output using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document.write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Writing into an alert box, using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window.alert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Writing into the browser console,</a:t>
            </a:r>
            <a:r>
              <a:rPr kumimoji="0" lang="en-US" altLang="en-US" sz="28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using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console.log()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85324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47649"/>
            <a:ext cx="5486400" cy="666751"/>
          </a:xfrm>
        </p:spPr>
        <p:txBody>
          <a:bodyPr/>
          <a:lstStyle/>
          <a:p>
            <a:pPr lvl="0" algn="l"/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Using </a:t>
            </a:r>
            <a:r>
              <a:rPr lang="en-US" altLang="en-US" dirty="0" err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innerHTML</a:t>
            </a:r>
            <a:b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850" y="914400"/>
            <a:ext cx="8562975" cy="5298846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/>
              <a:t>To access an HTML element, you can use the </a:t>
            </a:r>
            <a:r>
              <a:rPr lang="en-US" altLang="en-US" sz="1600" dirty="0" err="1"/>
              <a:t>document.getElementById</a:t>
            </a:r>
            <a:r>
              <a:rPr lang="en-US" altLang="en-US" sz="1600" dirty="0"/>
              <a:t>(id) method.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Use the id attribute to identify the HTML element.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Then use the </a:t>
            </a:r>
            <a:r>
              <a:rPr lang="en-US" altLang="en-US" sz="1600" dirty="0" err="1"/>
              <a:t>innerHTML</a:t>
            </a:r>
            <a:r>
              <a:rPr lang="en-US" altLang="en-US" sz="1600" dirty="0"/>
              <a:t> property to change the HTML content of the HTML element: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/>
              <a:t>Example</a:t>
            </a:r>
          </a:p>
          <a:p>
            <a:pPr lvl="0">
              <a:buClrTx/>
            </a:pPr>
            <a:r>
              <a:rPr lang="en-US" altLang="en-US" sz="1600" dirty="0"/>
              <a:t>&lt;!DOCTYPE html&gt;</a:t>
            </a:r>
            <a:br>
              <a:rPr lang="en-US" altLang="en-US" sz="1600" dirty="0"/>
            </a:br>
            <a:r>
              <a:rPr lang="en-US" altLang="en-US" sz="1600" dirty="0"/>
              <a:t>&lt;html&gt;</a:t>
            </a:r>
            <a:br>
              <a:rPr lang="en-US" altLang="en-US" sz="1600" dirty="0"/>
            </a:br>
            <a:r>
              <a:rPr lang="en-US" altLang="en-US" sz="1600" dirty="0"/>
              <a:t>&lt;body&gt;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dirty="0"/>
              <a:t>&lt;h1&gt;My First Web Page&lt;/h1&gt;</a:t>
            </a:r>
            <a:br>
              <a:rPr lang="en-US" altLang="en-US" sz="1600" dirty="0"/>
            </a:br>
            <a:r>
              <a:rPr lang="en-US" altLang="en-US" sz="1600" dirty="0"/>
              <a:t>&lt;p&gt;My First Paragraph&lt;/p&gt;</a:t>
            </a:r>
            <a:br>
              <a:rPr lang="en-US" altLang="en-US" sz="1600" dirty="0"/>
            </a:br>
            <a:r>
              <a:rPr lang="en-US" altLang="en-US" sz="1600" dirty="0"/>
              <a:t>Using </a:t>
            </a:r>
            <a:r>
              <a:rPr lang="en-US" altLang="en-US" sz="1600" dirty="0" err="1"/>
              <a:t>innerHTML</a:t>
            </a:r>
            <a:endParaRPr lang="en-US" altLang="en-US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sz="1600" dirty="0"/>
            </a:br>
            <a:r>
              <a:rPr lang="en-US" altLang="en-US" sz="1600" dirty="0"/>
              <a:t>&lt;p id="demo"&gt;&lt;/p&gt;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dirty="0"/>
              <a:t>&lt;script&gt;</a:t>
            </a:r>
            <a:br>
              <a:rPr lang="en-US" altLang="en-US" sz="1600" dirty="0"/>
            </a:br>
            <a:r>
              <a:rPr lang="en-US" altLang="en-US" sz="1600" dirty="0" err="1"/>
              <a:t>document.getElementById</a:t>
            </a:r>
            <a:r>
              <a:rPr lang="en-US" altLang="en-US" sz="1600" dirty="0"/>
              <a:t>("demo").</a:t>
            </a:r>
            <a:r>
              <a:rPr lang="en-US" altLang="en-US" sz="1600" dirty="0" err="1"/>
              <a:t>innerHTML</a:t>
            </a:r>
            <a:r>
              <a:rPr lang="en-US" altLang="en-US" sz="1600" dirty="0"/>
              <a:t> = "&lt;h2&gt;Hello World&lt;/h2&gt;";</a:t>
            </a:r>
            <a:br>
              <a:rPr lang="en-US" altLang="en-US" sz="1600" dirty="0"/>
            </a:br>
            <a:r>
              <a:rPr lang="en-US" altLang="en-US" sz="1600" dirty="0"/>
              <a:t>&lt;/script&gt;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dirty="0"/>
              <a:t>&lt;/body&gt;</a:t>
            </a:r>
            <a:br>
              <a:rPr lang="en-US" altLang="en-US" sz="1600" dirty="0"/>
            </a:br>
            <a:r>
              <a:rPr lang="en-US" altLang="en-US" sz="16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331188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09550" y="1055088"/>
            <a:ext cx="8639175" cy="5052625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To access an HTML element, use the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document.getElementById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(id)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method.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Then use the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innerText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property to change the inner text of the HTML element: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Example</a:t>
            </a:r>
          </a:p>
          <a:p>
            <a:pPr lvl="0">
              <a:buClrTx/>
            </a:pPr>
            <a:r>
              <a:rPr lang="en-US" altLang="en-US" sz="1600" dirty="0">
                <a:latin typeface="+mj-lt"/>
                <a:cs typeface="Segoe UI" panose="020B0502040204020203" pitchFamily="34" charset="0"/>
              </a:rPr>
              <a:t>&lt;!DOCTYPE html&gt;</a:t>
            </a:r>
          </a:p>
          <a:p>
            <a:pPr lvl="0">
              <a:buClrTx/>
            </a:pPr>
            <a:r>
              <a:rPr lang="en-US" altLang="en-US" sz="1600" dirty="0">
                <a:latin typeface="+mj-lt"/>
                <a:cs typeface="Segoe UI" panose="020B0502040204020203" pitchFamily="34" charset="0"/>
              </a:rPr>
              <a:t>&lt;html&gt;</a:t>
            </a:r>
          </a:p>
          <a:p>
            <a:pPr lvl="0">
              <a:buClrTx/>
            </a:pPr>
            <a:r>
              <a:rPr lang="en-US" altLang="en-US" sz="1600" dirty="0">
                <a:latin typeface="+mj-lt"/>
                <a:cs typeface="Segoe UI" panose="020B0502040204020203" pitchFamily="34" charset="0"/>
              </a:rPr>
              <a:t>&lt;body&gt;</a:t>
            </a:r>
          </a:p>
          <a:p>
            <a:pPr lvl="0">
              <a:buClrTx/>
            </a:pPr>
            <a:endParaRPr lang="en-US" altLang="en-US" sz="1600" dirty="0">
              <a:latin typeface="+mj-lt"/>
              <a:cs typeface="Segoe UI" panose="020B0502040204020203" pitchFamily="34" charset="0"/>
            </a:endParaRPr>
          </a:p>
          <a:p>
            <a:pPr lvl="0">
              <a:buClrTx/>
            </a:pPr>
            <a:r>
              <a:rPr lang="en-US" altLang="en-US" sz="1600" dirty="0">
                <a:latin typeface="+mj-lt"/>
                <a:cs typeface="Segoe UI" panose="020B0502040204020203" pitchFamily="34" charset="0"/>
              </a:rPr>
              <a:t>&lt;h1&gt;My First Web Page&lt;/h1&gt;</a:t>
            </a:r>
          </a:p>
          <a:p>
            <a:pPr lvl="0">
              <a:buClrTx/>
            </a:pPr>
            <a:r>
              <a:rPr lang="en-US" altLang="en-US" sz="1600" dirty="0">
                <a:latin typeface="+mj-lt"/>
                <a:cs typeface="Segoe UI" panose="020B0502040204020203" pitchFamily="34" charset="0"/>
              </a:rPr>
              <a:t>&lt;p&gt;My First Paragraph&lt;/p&gt;</a:t>
            </a:r>
          </a:p>
          <a:p>
            <a:pPr lvl="0">
              <a:buClrTx/>
            </a:pPr>
            <a:endParaRPr lang="en-US" altLang="en-US" sz="1600" dirty="0">
              <a:latin typeface="+mj-lt"/>
              <a:cs typeface="Segoe UI" panose="020B0502040204020203" pitchFamily="34" charset="0"/>
            </a:endParaRPr>
          </a:p>
          <a:p>
            <a:pPr lvl="0">
              <a:buClrTx/>
            </a:pPr>
            <a:r>
              <a:rPr lang="en-US" altLang="en-US" sz="1600" dirty="0">
                <a:latin typeface="+mj-lt"/>
                <a:cs typeface="Segoe UI" panose="020B0502040204020203" pitchFamily="34" charset="0"/>
              </a:rPr>
              <a:t>&lt;p id="demo"&gt;&lt;/p&gt;</a:t>
            </a:r>
          </a:p>
          <a:p>
            <a:pPr lvl="0">
              <a:buClrTx/>
            </a:pPr>
            <a:endParaRPr lang="en-US" altLang="en-US" sz="1600" dirty="0">
              <a:latin typeface="+mj-lt"/>
              <a:cs typeface="Segoe UI" panose="020B0502040204020203" pitchFamily="34" charset="0"/>
            </a:endParaRPr>
          </a:p>
          <a:p>
            <a:pPr lvl="0">
              <a:buClrTx/>
            </a:pPr>
            <a:r>
              <a:rPr lang="en-US" altLang="en-US" sz="1600" dirty="0">
                <a:latin typeface="+mj-lt"/>
                <a:cs typeface="Segoe UI" panose="020B0502040204020203" pitchFamily="34" charset="0"/>
              </a:rPr>
              <a:t>&lt;script&gt;</a:t>
            </a:r>
          </a:p>
          <a:p>
            <a:pPr lvl="0">
              <a:buClrTx/>
            </a:pPr>
            <a:r>
              <a:rPr lang="en-US" altLang="en-US" sz="1600" dirty="0">
                <a:latin typeface="+mj-lt"/>
                <a:cs typeface="Segoe UI" panose="020B0502040204020203" pitchFamily="34" charset="0"/>
              </a:rPr>
              <a:t>  </a:t>
            </a:r>
            <a:r>
              <a:rPr lang="en-US" altLang="en-US" sz="1600" dirty="0" err="1">
                <a:latin typeface="+mj-lt"/>
                <a:cs typeface="Segoe UI" panose="020B0502040204020203" pitchFamily="34" charset="0"/>
              </a:rPr>
              <a:t>document.getElementById</a:t>
            </a:r>
            <a:r>
              <a:rPr lang="en-US" altLang="en-US" sz="1600" dirty="0">
                <a:latin typeface="+mj-lt"/>
                <a:cs typeface="Segoe UI" panose="020B0502040204020203" pitchFamily="34" charset="0"/>
              </a:rPr>
              <a:t>("demo").</a:t>
            </a:r>
            <a:r>
              <a:rPr lang="en-US" altLang="en-US" sz="1600" dirty="0" err="1">
                <a:latin typeface="+mj-lt"/>
                <a:cs typeface="Segoe UI" panose="020B0502040204020203" pitchFamily="34" charset="0"/>
              </a:rPr>
              <a:t>innerText</a:t>
            </a:r>
            <a:r>
              <a:rPr lang="en-US" altLang="en-US" sz="1600" dirty="0">
                <a:latin typeface="+mj-lt"/>
                <a:cs typeface="Segoe UI" panose="020B0502040204020203" pitchFamily="34" charset="0"/>
              </a:rPr>
              <a:t> = "Hello, welcome to the conceptual code for </a:t>
            </a:r>
            <a:r>
              <a:rPr lang="en-US" altLang="en-US" sz="1600" dirty="0" err="1">
                <a:latin typeface="+mj-lt"/>
                <a:cs typeface="Segoe UI" panose="020B0502040204020203" pitchFamily="34" charset="0"/>
              </a:rPr>
              <a:t>innertext</a:t>
            </a:r>
            <a:r>
              <a:rPr lang="en-US" altLang="en-US" sz="1600" dirty="0">
                <a:latin typeface="+mj-lt"/>
                <a:cs typeface="Segoe UI" panose="020B0502040204020203" pitchFamily="34" charset="0"/>
              </a:rPr>
              <a:t>.";</a:t>
            </a:r>
          </a:p>
          <a:p>
            <a:pPr lvl="0">
              <a:buClrTx/>
            </a:pPr>
            <a:r>
              <a:rPr lang="en-US" altLang="en-US" sz="1600" dirty="0">
                <a:latin typeface="+mj-lt"/>
                <a:cs typeface="Segoe UI" panose="020B0502040204020203" pitchFamily="34" charset="0"/>
              </a:rPr>
              <a:t>&lt;/script&gt;</a:t>
            </a:r>
          </a:p>
          <a:p>
            <a:pPr lvl="0">
              <a:buClrTx/>
            </a:pPr>
            <a:endParaRPr lang="en-US" altLang="en-US" sz="1600" dirty="0">
              <a:latin typeface="+mj-lt"/>
              <a:cs typeface="Segoe UI" panose="020B0502040204020203" pitchFamily="34" charset="0"/>
            </a:endParaRPr>
          </a:p>
          <a:p>
            <a:pPr lvl="0">
              <a:buClrTx/>
            </a:pPr>
            <a:r>
              <a:rPr lang="en-US" altLang="en-US" sz="1600" dirty="0">
                <a:latin typeface="+mj-lt"/>
                <a:cs typeface="Segoe UI" panose="020B0502040204020203" pitchFamily="34" charset="0"/>
              </a:rPr>
              <a:t>&lt;/body&gt;</a:t>
            </a:r>
          </a:p>
          <a:p>
            <a:pPr lvl="0">
              <a:buClrTx/>
            </a:pPr>
            <a:r>
              <a:rPr lang="en-US" altLang="en-US" sz="1600" dirty="0">
                <a:latin typeface="+mj-lt"/>
                <a:cs typeface="Segoe UI" panose="020B0502040204020203" pitchFamily="34" charset="0"/>
              </a:rPr>
              <a:t>&lt;/html&gt;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0611" y="150912"/>
            <a:ext cx="29017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800" b="1" dirty="0">
                <a:latin typeface="+mj-lt"/>
                <a:cs typeface="Segoe UI" panose="020B0502040204020203" pitchFamily="34" charset="0"/>
              </a:rPr>
              <a:t>Using </a:t>
            </a:r>
            <a:r>
              <a:rPr lang="en-US" altLang="en-US" sz="2800" b="1" dirty="0" err="1">
                <a:latin typeface="+mj-lt"/>
                <a:cs typeface="Segoe UI" panose="020B0502040204020203" pitchFamily="34" charset="0"/>
              </a:rPr>
              <a:t>innerText</a:t>
            </a:r>
            <a:endParaRPr lang="en-US" altLang="en-US" sz="2800" b="1" dirty="0">
              <a:latin typeface="+mj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320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66263" y="284262"/>
            <a:ext cx="41793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+mj-lt"/>
              </a:rPr>
              <a:t>Using </a:t>
            </a:r>
            <a:r>
              <a:rPr lang="en-IN" sz="2800" b="1" dirty="0" err="1">
                <a:latin typeface="+mj-lt"/>
              </a:rPr>
              <a:t>document.write</a:t>
            </a:r>
            <a:r>
              <a:rPr lang="en-IN" sz="2800" b="1" dirty="0">
                <a:latin typeface="+mj-lt"/>
              </a:rPr>
              <a:t>()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3825" y="1196534"/>
            <a:ext cx="8343900" cy="4560182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For testing purposes, it is convenient to use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document.write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+mj-lt"/>
                <a:cs typeface="Segoe UI" panose="020B0502040204020203" pitchFamily="34" charset="0"/>
              </a:rPr>
              <a:t>&lt;!DOCTYPE html&gt;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html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body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h1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My First Web Page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/h1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My first paragraph.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document.write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+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);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/body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/html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8143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00024" y="1138565"/>
            <a:ext cx="84867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Using </a:t>
            </a:r>
            <a:r>
              <a:rPr lang="en-US" sz="2400" dirty="0" err="1">
                <a:latin typeface="+mj-lt"/>
              </a:rPr>
              <a:t>document.write</a:t>
            </a:r>
            <a:r>
              <a:rPr lang="en-US" sz="2400" dirty="0">
                <a:latin typeface="+mj-lt"/>
              </a:rPr>
              <a:t>() after an HTML document is loaded, will </a:t>
            </a:r>
            <a:r>
              <a:rPr lang="en-US" sz="2400" b="1" dirty="0">
                <a:latin typeface="+mj-lt"/>
              </a:rPr>
              <a:t>delete all existing HTML</a:t>
            </a:r>
            <a:r>
              <a:rPr lang="en-US" sz="2400" dirty="0">
                <a:latin typeface="+mj-lt"/>
              </a:rPr>
              <a:t>:</a:t>
            </a:r>
            <a:endParaRPr lang="en-IN" sz="240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1949" y="2184088"/>
            <a:ext cx="816292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&lt;!DOCTYPE html&gt;</a:t>
            </a: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&lt;html&gt;</a:t>
            </a: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&lt;body&gt;</a:t>
            </a: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&lt;h1&gt;My First Web Page&lt;/h1&gt;</a:t>
            </a: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&lt;p&gt;My first paragraph.&lt;/p&gt;</a:t>
            </a: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&lt;p id="result"&gt;&lt;/p&gt;</a:t>
            </a: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&lt;button type="button" onclick="</a:t>
            </a:r>
            <a:r>
              <a:rPr lang="en-US" sz="1800" dirty="0" err="1">
                <a:solidFill>
                  <a:schemeClr val="tx1"/>
                </a:solidFill>
                <a:latin typeface="+mj-lt"/>
              </a:rPr>
              <a:t>showResult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()"&gt;Try it&lt;/button&gt;</a:t>
            </a: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&lt;script&gt;</a:t>
            </a: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  function </a:t>
            </a:r>
            <a:r>
              <a:rPr lang="en-US" sz="1800" dirty="0" err="1">
                <a:solidFill>
                  <a:schemeClr val="tx1"/>
                </a:solidFill>
                <a:latin typeface="+mj-lt"/>
              </a:rPr>
              <a:t>showResult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() {</a:t>
            </a: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latin typeface="+mj-lt"/>
              </a:rPr>
              <a:t>document.getElementById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("result").</a:t>
            </a:r>
            <a:r>
              <a:rPr lang="en-US" sz="1800" dirty="0" err="1">
                <a:solidFill>
                  <a:schemeClr val="tx1"/>
                </a:solidFill>
                <a:latin typeface="+mj-lt"/>
              </a:rPr>
              <a:t>innerText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 = 5 + 6;</a:t>
            </a: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  }</a:t>
            </a: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&lt;/script&gt;</a:t>
            </a: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&lt;/body&gt;</a:t>
            </a:r>
          </a:p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&lt;/html&gt;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982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9549"/>
            <a:ext cx="5486400" cy="704851"/>
          </a:xfrm>
        </p:spPr>
        <p:txBody>
          <a:bodyPr/>
          <a:lstStyle/>
          <a:p>
            <a:r>
              <a:rPr lang="en-IN" dirty="0">
                <a:latin typeface="Segoe UI" panose="020B0502040204020203" pitchFamily="34" charset="0"/>
              </a:rPr>
              <a:t>Using </a:t>
            </a:r>
            <a:r>
              <a:rPr lang="en-IN" dirty="0" err="1">
                <a:latin typeface="Segoe UI" panose="020B0502040204020203" pitchFamily="34" charset="0"/>
              </a:rPr>
              <a:t>window.alert</a:t>
            </a:r>
            <a:r>
              <a:rPr lang="en-IN" dirty="0">
                <a:latin typeface="Segoe UI" panose="020B0502040204020203" pitchFamily="34" charset="0"/>
              </a:rPr>
              <a:t>()</a:t>
            </a:r>
            <a:br>
              <a:rPr lang="en-IN" dirty="0"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42900" y="906601"/>
            <a:ext cx="8153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+mj-lt"/>
              </a:rPr>
              <a:t>You can use an alert box to display data:</a:t>
            </a:r>
          </a:p>
          <a:p>
            <a:r>
              <a:rPr lang="en-IN" sz="2400" dirty="0">
                <a:latin typeface="+mj-lt"/>
              </a:rPr>
              <a:t>Example</a:t>
            </a:r>
          </a:p>
          <a:p>
            <a:r>
              <a:rPr lang="en-IN" sz="2400" dirty="0">
                <a:solidFill>
                  <a:srgbClr val="708090"/>
                </a:solidFill>
                <a:latin typeface="+mj-lt"/>
              </a:rPr>
              <a:t>&lt;!DOCTYPE html&gt;</a:t>
            </a:r>
            <a:br>
              <a:rPr lang="en-IN" sz="2400" dirty="0">
                <a:latin typeface="+mj-lt"/>
              </a:rPr>
            </a:b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html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br>
              <a:rPr lang="en-IN" sz="2400" dirty="0">
                <a:latin typeface="+mj-lt"/>
              </a:rPr>
            </a:b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body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br>
              <a:rPr lang="en-IN" sz="2400" dirty="0">
                <a:latin typeface="+mj-lt"/>
              </a:rPr>
            </a:br>
            <a:br>
              <a:rPr lang="en-IN" sz="2400" dirty="0">
                <a:latin typeface="+mj-lt"/>
              </a:rPr>
            </a:b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h1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IN" sz="2400" dirty="0">
                <a:latin typeface="+mj-lt"/>
              </a:rPr>
              <a:t>My First Web Page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/h1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br>
              <a:rPr lang="en-IN" sz="2400" dirty="0">
                <a:latin typeface="+mj-lt"/>
              </a:rPr>
            </a:b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p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IN" sz="2400" dirty="0">
                <a:latin typeface="+mj-lt"/>
              </a:rPr>
              <a:t>My first paragraph.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/p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br>
              <a:rPr lang="en-IN" sz="2400" dirty="0">
                <a:latin typeface="+mj-lt"/>
              </a:rPr>
            </a:br>
            <a:br>
              <a:rPr lang="en-IN" sz="2400" dirty="0">
                <a:latin typeface="+mj-lt"/>
              </a:rPr>
            </a:b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script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br>
              <a:rPr lang="en-IN" sz="2400" dirty="0">
                <a:latin typeface="+mj-lt"/>
              </a:rPr>
            </a:br>
            <a:r>
              <a:rPr lang="en-IN" sz="2400" dirty="0" err="1">
                <a:latin typeface="+mj-lt"/>
              </a:rPr>
              <a:t>window.alert</a:t>
            </a:r>
            <a:r>
              <a:rPr lang="en-IN" sz="2400" dirty="0">
                <a:latin typeface="+mj-lt"/>
              </a:rPr>
              <a:t>(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5</a:t>
            </a:r>
            <a:r>
              <a:rPr lang="en-IN" sz="2400" dirty="0">
                <a:latin typeface="+mj-lt"/>
              </a:rPr>
              <a:t> + 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6</a:t>
            </a:r>
            <a:r>
              <a:rPr lang="en-IN" sz="2400" dirty="0">
                <a:latin typeface="+mj-lt"/>
              </a:rPr>
              <a:t>);</a:t>
            </a:r>
            <a:br>
              <a:rPr lang="en-IN" sz="2400" dirty="0">
                <a:latin typeface="+mj-lt"/>
              </a:rPr>
            </a:b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/script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br>
              <a:rPr lang="en-IN" sz="2400" dirty="0">
                <a:latin typeface="+mj-lt"/>
              </a:rPr>
            </a:br>
            <a:br>
              <a:rPr lang="en-IN" sz="2400" dirty="0">
                <a:latin typeface="+mj-lt"/>
              </a:rPr>
            </a:b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/body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br>
              <a:rPr lang="en-IN" sz="2400" dirty="0">
                <a:latin typeface="+mj-lt"/>
              </a:rPr>
            </a:b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/html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62515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66700" y="1114410"/>
            <a:ext cx="8543925" cy="539117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You can skip 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window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keyword.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In JavaScript, the window object is the global scope object. This means that variables, properties, and methods by default belong to the window object. This also means that specifying 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window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keyword is optional: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+mj-lt"/>
                <a:cs typeface="Segoe UI" panose="020B0502040204020203" pitchFamily="34" charset="0"/>
              </a:rPr>
              <a:t>&lt;!DOCTYPE html&gt;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html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body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h1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My First Web Page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/h1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My first paragraph.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alert(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+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);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/body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/html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156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5725" y="457199"/>
            <a:ext cx="6477000" cy="561975"/>
          </a:xfrm>
        </p:spPr>
        <p:txBody>
          <a:bodyPr/>
          <a:lstStyle/>
          <a:p>
            <a:pPr lvl="0" algn="l"/>
            <a:r>
              <a:rPr lang="en-US" altLang="en-US" b="1" dirty="0">
                <a:solidFill>
                  <a:srgbClr val="000000"/>
                </a:solidFill>
                <a:latin typeface="+mj-lt"/>
                <a:cs typeface="Segoe UI" panose="020B0502040204020203" pitchFamily="34" charset="0"/>
              </a:rPr>
              <a:t>Using console.log()</a:t>
            </a:r>
            <a:br>
              <a:rPr lang="en-US" altLang="en-US" b="1" dirty="0">
                <a:solidFill>
                  <a:srgbClr val="000000"/>
                </a:solidFill>
                <a:latin typeface="+mj-lt"/>
                <a:cs typeface="Segoe UI" panose="020B0502040204020203" pitchFamily="34" charset="0"/>
              </a:rPr>
            </a:br>
            <a:endParaRPr lang="en-IN" b="1" dirty="0">
              <a:latin typeface="+mj-l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57175" y="711398"/>
            <a:ext cx="8648700" cy="591439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For debugging purposes, you can call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console.log()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method in the browser to display data.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You will learn more about debugging in a later chapter.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Example</a:t>
            </a:r>
          </a:p>
          <a:p>
            <a:pPr lvl="0"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  <a:cs typeface="Segoe UI" panose="020B0502040204020203" pitchFamily="34" charset="0"/>
              </a:rPr>
              <a:t>&lt;!DOCTYPE html&gt;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  <a:cs typeface="Segoe UI" panose="020B0502040204020203" pitchFamily="34" charset="0"/>
              </a:rPr>
              <a:t>&lt;html&gt;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  <a:cs typeface="Segoe UI" panose="020B0502040204020203" pitchFamily="34" charset="0"/>
              </a:rPr>
              <a:t>&lt;body&gt;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  <a:cs typeface="Segoe UI" panose="020B0502040204020203" pitchFamily="34" charset="0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  <a:cs typeface="Segoe UI" panose="020B0502040204020203" pitchFamily="34" charset="0"/>
              </a:rPr>
            </a:br>
            <a:r>
              <a:rPr lang="en-GB" altLang="en-US" sz="2000" dirty="0">
                <a:latin typeface="+mj-lt"/>
                <a:cs typeface="Segoe UI" panose="020B0502040204020203" pitchFamily="34" charset="0"/>
              </a:rPr>
              <a:t>&lt;script&gt;</a:t>
            </a:r>
          </a:p>
          <a:p>
            <a:pPr lvl="0">
              <a:buClrTx/>
            </a:pPr>
            <a:r>
              <a:rPr lang="en-GB" altLang="en-US" sz="2000" dirty="0">
                <a:latin typeface="+mj-lt"/>
                <a:cs typeface="Segoe UI" panose="020B0502040204020203" pitchFamily="34" charset="0"/>
              </a:rPr>
              <a:t>  let sum = 5 + 6;</a:t>
            </a:r>
          </a:p>
          <a:p>
            <a:pPr lvl="0">
              <a:buClrTx/>
            </a:pPr>
            <a:r>
              <a:rPr lang="en-GB" altLang="en-US" sz="2000" dirty="0">
                <a:latin typeface="+mj-lt"/>
                <a:cs typeface="Segoe UI" panose="020B0502040204020203" pitchFamily="34" charset="0"/>
              </a:rPr>
              <a:t>  console.log(sum);</a:t>
            </a:r>
          </a:p>
          <a:p>
            <a:pPr lvl="0">
              <a:buClrTx/>
            </a:pPr>
            <a:r>
              <a:rPr lang="en-GB" altLang="en-US" sz="2000" dirty="0">
                <a:latin typeface="+mj-lt"/>
                <a:cs typeface="Segoe UI" panose="020B0502040204020203" pitchFamily="34" charset="0"/>
              </a:rPr>
              <a:t>&lt;/script&gt;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  <a:cs typeface="Segoe UI" panose="020B0502040204020203" pitchFamily="34" charset="0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  <a:cs typeface="Segoe UI" panose="020B0502040204020203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  <a:cs typeface="Segoe UI" panose="020B0502040204020203" pitchFamily="34" charset="0"/>
              </a:rPr>
              <a:t>&lt;/body&gt;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j-lt"/>
                <a:cs typeface="Segoe UI" panose="020B0502040204020203" pitchFamily="34" charset="0"/>
              </a:rPr>
              <a:t>&lt;/html&gt;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530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90525" y="800860"/>
            <a:ext cx="7877175" cy="4837181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JavaScript does not have any print object or print methods.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You cannot access output devices from JavaScript.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The only exception is that you can call the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window.print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method in the browser to print the content of the current window.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Example</a:t>
            </a:r>
          </a:p>
          <a:p>
            <a:pPr lvl="0">
              <a:buClrTx/>
            </a:pPr>
            <a:r>
              <a:rPr lang="en-GB" altLang="en-US" sz="1800" dirty="0">
                <a:solidFill>
                  <a:srgbClr val="708090"/>
                </a:solidFill>
                <a:latin typeface="+mj-lt"/>
                <a:cs typeface="Segoe UI" panose="020B0502040204020203" pitchFamily="34" charset="0"/>
              </a:rPr>
              <a:t>&lt;!DOCTYPE html&gt;</a:t>
            </a:r>
          </a:p>
          <a:p>
            <a:pPr lvl="0">
              <a:buClrTx/>
            </a:pPr>
            <a:r>
              <a:rPr lang="en-GB" altLang="en-US" sz="1800" dirty="0">
                <a:solidFill>
                  <a:srgbClr val="708090"/>
                </a:solidFill>
                <a:latin typeface="+mj-lt"/>
                <a:cs typeface="Segoe UI" panose="020B0502040204020203" pitchFamily="34" charset="0"/>
              </a:rPr>
              <a:t>&lt;html&gt;</a:t>
            </a:r>
          </a:p>
          <a:p>
            <a:pPr lvl="0">
              <a:buClrTx/>
            </a:pPr>
            <a:r>
              <a:rPr lang="en-GB" altLang="en-US" sz="1800" dirty="0">
                <a:solidFill>
                  <a:srgbClr val="708090"/>
                </a:solidFill>
                <a:latin typeface="+mj-lt"/>
                <a:cs typeface="Segoe UI" panose="020B0502040204020203" pitchFamily="34" charset="0"/>
              </a:rPr>
              <a:t>&lt;body&gt;</a:t>
            </a:r>
          </a:p>
          <a:p>
            <a:pPr lvl="0">
              <a:buClrTx/>
            </a:pPr>
            <a:endParaRPr lang="en-GB" altLang="en-US" sz="1800" dirty="0">
              <a:solidFill>
                <a:srgbClr val="708090"/>
              </a:solidFill>
              <a:latin typeface="+mj-lt"/>
              <a:cs typeface="Segoe UI" panose="020B0502040204020203" pitchFamily="34" charset="0"/>
            </a:endParaRPr>
          </a:p>
          <a:p>
            <a:pPr lvl="0">
              <a:buClrTx/>
            </a:pPr>
            <a:r>
              <a:rPr lang="en-GB" altLang="en-US" sz="1800" dirty="0">
                <a:solidFill>
                  <a:srgbClr val="708090"/>
                </a:solidFill>
                <a:latin typeface="+mj-lt"/>
                <a:cs typeface="Segoe UI" panose="020B0502040204020203" pitchFamily="34" charset="0"/>
              </a:rPr>
              <a:t>&lt;h2&gt;Print this page&lt;/h2&gt;</a:t>
            </a:r>
          </a:p>
          <a:p>
            <a:pPr lvl="0">
              <a:buClrTx/>
            </a:pPr>
            <a:r>
              <a:rPr lang="en-GB" altLang="en-US" sz="1800" dirty="0">
                <a:solidFill>
                  <a:srgbClr val="708090"/>
                </a:solidFill>
                <a:latin typeface="+mj-lt"/>
                <a:cs typeface="Segoe UI" panose="020B0502040204020203" pitchFamily="34" charset="0"/>
              </a:rPr>
              <a:t>&lt;p&gt;This content will be printed.&lt;/p&gt;</a:t>
            </a:r>
          </a:p>
          <a:p>
            <a:pPr lvl="0">
              <a:buClrTx/>
            </a:pPr>
            <a:endParaRPr lang="en-GB" altLang="en-US" sz="1800" dirty="0">
              <a:solidFill>
                <a:srgbClr val="708090"/>
              </a:solidFill>
              <a:latin typeface="+mj-lt"/>
              <a:cs typeface="Segoe UI" panose="020B0502040204020203" pitchFamily="34" charset="0"/>
            </a:endParaRPr>
          </a:p>
          <a:p>
            <a:pPr lvl="0">
              <a:buClrTx/>
            </a:pPr>
            <a:r>
              <a:rPr lang="en-GB" altLang="en-US" sz="1800" dirty="0">
                <a:solidFill>
                  <a:srgbClr val="708090"/>
                </a:solidFill>
                <a:latin typeface="+mj-lt"/>
                <a:cs typeface="Segoe UI" panose="020B0502040204020203" pitchFamily="34" charset="0"/>
              </a:rPr>
              <a:t>&lt;button onclick="</a:t>
            </a:r>
            <a:r>
              <a:rPr lang="en-GB" altLang="en-US" sz="1800" dirty="0" err="1">
                <a:solidFill>
                  <a:srgbClr val="708090"/>
                </a:solidFill>
                <a:latin typeface="+mj-lt"/>
                <a:cs typeface="Segoe UI" panose="020B0502040204020203" pitchFamily="34" charset="0"/>
              </a:rPr>
              <a:t>window.print</a:t>
            </a:r>
            <a:r>
              <a:rPr lang="en-GB" altLang="en-US" sz="1800" dirty="0">
                <a:solidFill>
                  <a:srgbClr val="708090"/>
                </a:solidFill>
                <a:latin typeface="+mj-lt"/>
                <a:cs typeface="Segoe UI" panose="020B0502040204020203" pitchFamily="34" charset="0"/>
              </a:rPr>
              <a:t>()"&gt;Print&lt;/button&gt;</a:t>
            </a:r>
          </a:p>
          <a:p>
            <a:pPr lvl="0">
              <a:buClrTx/>
            </a:pPr>
            <a:endParaRPr lang="en-GB" altLang="en-US" sz="1800" dirty="0">
              <a:solidFill>
                <a:srgbClr val="708090"/>
              </a:solidFill>
              <a:latin typeface="+mj-lt"/>
              <a:cs typeface="Segoe UI" panose="020B0502040204020203" pitchFamily="34" charset="0"/>
            </a:endParaRPr>
          </a:p>
          <a:p>
            <a:pPr lvl="0">
              <a:buClrTx/>
            </a:pPr>
            <a:r>
              <a:rPr lang="en-GB" altLang="en-US" sz="1800" dirty="0">
                <a:solidFill>
                  <a:srgbClr val="708090"/>
                </a:solidFill>
                <a:latin typeface="+mj-lt"/>
                <a:cs typeface="Segoe UI" panose="020B0502040204020203" pitchFamily="34" charset="0"/>
              </a:rPr>
              <a:t>&lt;/body&gt;</a:t>
            </a:r>
          </a:p>
          <a:p>
            <a:pPr lvl="0">
              <a:buClrTx/>
            </a:pPr>
            <a:r>
              <a:rPr lang="en-GB" altLang="en-US" sz="1800" dirty="0">
                <a:solidFill>
                  <a:srgbClr val="708090"/>
                </a:solidFill>
                <a:latin typeface="+mj-lt"/>
                <a:cs typeface="Segoe UI" panose="020B0502040204020203" pitchFamily="34" charset="0"/>
              </a:rPr>
              <a:t>&lt;/html&gt;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9189" y="322362"/>
            <a:ext cx="25282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latin typeface="+mj-lt"/>
                <a:cs typeface="Segoe UI" panose="020B0502040204020203" pitchFamily="34" charset="0"/>
              </a:rPr>
              <a:t>JavaScript Print</a:t>
            </a:r>
          </a:p>
        </p:txBody>
      </p:sp>
    </p:spTree>
    <p:extLst>
      <p:ext uri="{BB962C8B-B14F-4D97-AF65-F5344CB8AC3E}">
        <p14:creationId xmlns:p14="http://schemas.microsoft.com/office/powerpoint/2010/main" val="544002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41100" y="2941737"/>
            <a:ext cx="41601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latin typeface="+mj-lt"/>
              </a:rPr>
              <a:t>JavaScript Syntax</a:t>
            </a:r>
          </a:p>
        </p:txBody>
      </p:sp>
    </p:spTree>
    <p:extLst>
      <p:ext uri="{BB962C8B-B14F-4D97-AF65-F5344CB8AC3E}">
        <p14:creationId xmlns:p14="http://schemas.microsoft.com/office/powerpoint/2010/main" val="200772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1039" y="1226344"/>
            <a:ext cx="795048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</a:rPr>
              <a:t>Syntax are the rules how programs must be constructed:</a:t>
            </a:r>
          </a:p>
          <a:p>
            <a:r>
              <a:rPr lang="en-US" sz="2800" dirty="0">
                <a:solidFill>
                  <a:srgbClr val="708090"/>
                </a:solidFill>
                <a:latin typeface="+mj-lt"/>
              </a:rPr>
              <a:t>// How to Declare variables:</a:t>
            </a:r>
            <a:br>
              <a:rPr lang="en-US" sz="2800" dirty="0">
                <a:solidFill>
                  <a:srgbClr val="708090"/>
                </a:solidFill>
                <a:latin typeface="+mj-lt"/>
              </a:rPr>
            </a:br>
            <a:r>
              <a:rPr lang="en-US" sz="2800" dirty="0">
                <a:solidFill>
                  <a:srgbClr val="005CC5"/>
                </a:solidFill>
                <a:latin typeface="+mj-lt"/>
              </a:rPr>
              <a:t>let</a:t>
            </a:r>
            <a:r>
              <a:rPr lang="en-US" sz="2800" dirty="0">
                <a:latin typeface="+mj-lt"/>
              </a:rPr>
              <a:t> x = </a:t>
            </a:r>
            <a:r>
              <a:rPr lang="en-US" sz="2800" dirty="0">
                <a:solidFill>
                  <a:srgbClr val="990055"/>
                </a:solidFill>
                <a:latin typeface="+mj-lt"/>
              </a:rPr>
              <a:t>5</a:t>
            </a:r>
            <a:r>
              <a:rPr lang="en-US" sz="2800" dirty="0">
                <a:latin typeface="+mj-lt"/>
              </a:rPr>
              <a:t>;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solidFill>
                  <a:srgbClr val="005CC5"/>
                </a:solidFill>
                <a:latin typeface="+mj-lt"/>
              </a:rPr>
              <a:t>let</a:t>
            </a:r>
            <a:r>
              <a:rPr lang="en-US" sz="2800" dirty="0">
                <a:latin typeface="+mj-lt"/>
              </a:rPr>
              <a:t> y = </a:t>
            </a:r>
            <a:r>
              <a:rPr lang="en-US" sz="2800" dirty="0">
                <a:solidFill>
                  <a:srgbClr val="990055"/>
                </a:solidFill>
                <a:latin typeface="+mj-lt"/>
              </a:rPr>
              <a:t>6</a:t>
            </a:r>
            <a:r>
              <a:rPr lang="en-US" sz="2800" dirty="0">
                <a:latin typeface="+mj-lt"/>
              </a:rPr>
              <a:t>;</a:t>
            </a:r>
            <a:br>
              <a:rPr lang="en-US" sz="2800" dirty="0">
                <a:latin typeface="+mj-lt"/>
              </a:rPr>
            </a:br>
            <a:br>
              <a:rPr lang="en-US" sz="2800" dirty="0">
                <a:latin typeface="+mj-lt"/>
              </a:rPr>
            </a:br>
            <a:r>
              <a:rPr lang="en-US" sz="2800" dirty="0">
                <a:solidFill>
                  <a:srgbClr val="708090"/>
                </a:solidFill>
                <a:latin typeface="+mj-lt"/>
              </a:rPr>
              <a:t>// How to Compute values:</a:t>
            </a:r>
            <a:br>
              <a:rPr lang="en-US" sz="2800" dirty="0">
                <a:solidFill>
                  <a:srgbClr val="708090"/>
                </a:solidFill>
                <a:latin typeface="+mj-lt"/>
              </a:rPr>
            </a:br>
            <a:r>
              <a:rPr lang="en-US" sz="2800" dirty="0">
                <a:solidFill>
                  <a:srgbClr val="005CC5"/>
                </a:solidFill>
                <a:latin typeface="+mj-lt"/>
              </a:rPr>
              <a:t>let</a:t>
            </a:r>
            <a:r>
              <a:rPr lang="en-US" sz="2800" dirty="0">
                <a:latin typeface="+mj-lt"/>
              </a:rPr>
              <a:t> z = x + y;</a:t>
            </a:r>
            <a:br>
              <a:rPr lang="en-US" sz="2800" dirty="0">
                <a:latin typeface="+mj-lt"/>
              </a:rPr>
            </a:br>
            <a:br>
              <a:rPr lang="en-US" sz="2800" dirty="0">
                <a:latin typeface="+mj-lt"/>
              </a:rPr>
            </a:br>
            <a:r>
              <a:rPr lang="en-US" sz="2800" dirty="0">
                <a:solidFill>
                  <a:srgbClr val="708090"/>
                </a:solidFill>
                <a:latin typeface="+mj-lt"/>
              </a:rPr>
              <a:t>// I am a Comment. I do Nothing</a:t>
            </a:r>
            <a:endParaRPr lang="en-US" sz="2800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1039" y="141387"/>
            <a:ext cx="26003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+mj-lt"/>
              </a:rPr>
              <a:t>Syntax Rules</a:t>
            </a:r>
          </a:p>
        </p:txBody>
      </p:sp>
    </p:spTree>
    <p:extLst>
      <p:ext uri="{BB962C8B-B14F-4D97-AF65-F5344CB8AC3E}">
        <p14:creationId xmlns:p14="http://schemas.microsoft.com/office/powerpoint/2010/main" val="18121666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7223" y="236637"/>
            <a:ext cx="36920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+mj-lt"/>
              </a:rPr>
              <a:t>JavaScript Values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76225" y="821412"/>
            <a:ext cx="7019925" cy="16413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The JavaScript syntax defines two types of values: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Literals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(Fixed values)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Variables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(Variable values)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8123" y="2015098"/>
            <a:ext cx="8343900" cy="16055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JavaScript Literals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The most important syntax rules for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literals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(fixed values) are: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Numbers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are written with or without decimals: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6225" y="3534013"/>
            <a:ext cx="691515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&lt;h1&gt;JavaScript Numbers&lt;/h1&gt;</a:t>
            </a:r>
          </a:p>
          <a:p>
            <a:r>
              <a:rPr lang="en-IN" dirty="0"/>
              <a:t>&lt;h3&gt;Number can be written with or without decimals.&lt;/h3&gt;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10.50;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2649061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31763" y="1341537"/>
            <a:ext cx="76626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+mj-lt"/>
              </a:rPr>
              <a:t>Strings</a:t>
            </a:r>
            <a:r>
              <a:rPr lang="en-US" sz="2400" dirty="0">
                <a:latin typeface="+mj-lt"/>
              </a:rPr>
              <a:t> are text, written within double or single quotes:</a:t>
            </a:r>
            <a:endParaRPr lang="en-IN" sz="240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2450" y="2135535"/>
            <a:ext cx="4572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&lt;h1&gt;JavaScript Strings&lt;/h1&gt;</a:t>
            </a:r>
          </a:p>
          <a:p>
            <a:r>
              <a:rPr lang="en-IN" dirty="0"/>
              <a:t>&lt;h3&gt;Strings can be written with double or single quotes.&lt;/h3&gt;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'John Doe';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897617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47649"/>
            <a:ext cx="5486400" cy="666751"/>
          </a:xfrm>
        </p:spPr>
        <p:txBody>
          <a:bodyPr/>
          <a:lstStyle/>
          <a:p>
            <a:r>
              <a:rPr lang="en-IN" dirty="0"/>
              <a:t>JavaScript Keywords</a:t>
            </a:r>
            <a:br>
              <a:rPr lang="en-IN" b="0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47650" y="938853"/>
            <a:ext cx="8353425" cy="151319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JavaScript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keywords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are used to defines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to be performed.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and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const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keywords create variables: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1475" y="2643991"/>
            <a:ext cx="73914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&lt;h1&gt;JavaScript Syntax&lt;/h1&gt;</a:t>
            </a:r>
          </a:p>
          <a:p>
            <a:r>
              <a:rPr lang="en-IN" dirty="0"/>
              <a:t>&lt;h3&gt;The let and </a:t>
            </a:r>
            <a:r>
              <a:rPr lang="en-IN" dirty="0" err="1"/>
              <a:t>const</a:t>
            </a:r>
            <a:r>
              <a:rPr lang="en-IN" dirty="0"/>
              <a:t> keywords create variables&lt;/h3&gt;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let x = 5;</a:t>
            </a:r>
          </a:p>
          <a:p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fname</a:t>
            </a:r>
            <a:r>
              <a:rPr lang="en-IN" dirty="0"/>
              <a:t> = "John";</a:t>
            </a:r>
          </a:p>
          <a:p>
            <a:endParaRPr lang="en-IN" dirty="0"/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</a:t>
            </a:r>
            <a:r>
              <a:rPr lang="en-IN" dirty="0" err="1"/>
              <a:t>fname</a:t>
            </a:r>
            <a:r>
              <a:rPr lang="en-IN" dirty="0"/>
              <a:t> + " is " + x + " years old.";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136335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5825" y="2354818"/>
            <a:ext cx="77914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JavaScript keywords are </a:t>
            </a:r>
            <a:r>
              <a:rPr lang="en-US" sz="2400" b="1" dirty="0">
                <a:latin typeface="+mj-lt"/>
              </a:rPr>
              <a:t>case-sensitive</a:t>
            </a:r>
            <a:r>
              <a:rPr lang="en-US" sz="2400" dirty="0">
                <a:latin typeface="+mj-lt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JavaScript does not interpret </a:t>
            </a:r>
            <a:r>
              <a:rPr lang="en-US" sz="2400" b="1" dirty="0">
                <a:latin typeface="+mj-lt"/>
              </a:rPr>
              <a:t>LET</a:t>
            </a:r>
            <a:r>
              <a:rPr lang="en-US" sz="2400" dirty="0">
                <a:latin typeface="+mj-lt"/>
              </a:rPr>
              <a:t> or </a:t>
            </a:r>
            <a:r>
              <a:rPr lang="en-US" sz="2400" b="1" dirty="0">
                <a:latin typeface="+mj-lt"/>
              </a:rPr>
              <a:t>Let</a:t>
            </a:r>
            <a:r>
              <a:rPr lang="en-US" sz="2400" dirty="0">
                <a:latin typeface="+mj-lt"/>
              </a:rPr>
              <a:t> as the keyword </a:t>
            </a:r>
            <a:r>
              <a:rPr lang="en-US" sz="2400" b="1" dirty="0">
                <a:latin typeface="+mj-lt"/>
              </a:rPr>
              <a:t>let</a:t>
            </a:r>
            <a:r>
              <a:rPr lang="en-US" sz="24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52725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767959" y="3141762"/>
            <a:ext cx="41937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+mj-lt"/>
              </a:rPr>
              <a:t>JavaScript Variables</a:t>
            </a:r>
          </a:p>
        </p:txBody>
      </p:sp>
    </p:spTree>
    <p:extLst>
      <p:ext uri="{BB962C8B-B14F-4D97-AF65-F5344CB8AC3E}">
        <p14:creationId xmlns:p14="http://schemas.microsoft.com/office/powerpoint/2010/main" val="173452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57225" y="1328426"/>
            <a:ext cx="7400925" cy="4467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63480" rIns="-76176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Variables = Data Containers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JavaScript variables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are containers for data.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JavaScript variables can be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declared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in 4 ways: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Modern JavaScript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Using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let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Using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const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Older JavaScript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Using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var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(Not Recommended)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Automatically (Not Recommended)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7478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42899" y="1199823"/>
            <a:ext cx="8181975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&lt;h1&gt;JavaScript Variables&lt;/h1&gt;</a:t>
            </a:r>
          </a:p>
          <a:p>
            <a:endParaRPr lang="en-IN" dirty="0"/>
          </a:p>
          <a:p>
            <a:r>
              <a:rPr lang="en-IN" dirty="0"/>
              <a:t>&lt;p&gt;In this example, x, y, and z are variables.&lt;/p&gt;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let x = 5;</a:t>
            </a:r>
          </a:p>
          <a:p>
            <a:r>
              <a:rPr lang="en-IN" dirty="0"/>
              <a:t>let y = 6;</a:t>
            </a:r>
          </a:p>
          <a:p>
            <a:r>
              <a:rPr lang="en-IN" dirty="0"/>
              <a:t>let z = x + y;</a:t>
            </a:r>
          </a:p>
          <a:p>
            <a:endParaRPr lang="en-IN" dirty="0"/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"The value of z is " + z;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899" y="229057"/>
            <a:ext cx="31710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Segoe UI" panose="020B0502040204020203" pitchFamily="34" charset="0"/>
              </a:rPr>
              <a:t>Example using let</a:t>
            </a:r>
          </a:p>
        </p:txBody>
      </p:sp>
    </p:spTree>
    <p:extLst>
      <p:ext uri="{BB962C8B-B14F-4D97-AF65-F5344CB8AC3E}">
        <p14:creationId xmlns:p14="http://schemas.microsoft.com/office/powerpoint/2010/main" val="3393841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77" y="141387"/>
            <a:ext cx="41376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Segoe UI" panose="020B0502040204020203" pitchFamily="34" charset="0"/>
              </a:rPr>
              <a:t>Example using </a:t>
            </a:r>
            <a:r>
              <a:rPr lang="en-IN" sz="3200" b="1" dirty="0" err="1">
                <a:latin typeface="Segoe UI" panose="020B0502040204020203" pitchFamily="34" charset="0"/>
              </a:rPr>
              <a:t>const</a:t>
            </a:r>
            <a:endParaRPr lang="en-IN" sz="3200" b="1" dirty="0"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3875" y="1256973"/>
            <a:ext cx="750570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&lt;h1&gt;JavaScript Variables&lt;/h1&gt;</a:t>
            </a:r>
          </a:p>
          <a:p>
            <a:endParaRPr lang="en-IN" dirty="0"/>
          </a:p>
          <a:p>
            <a:r>
              <a:rPr lang="en-IN" dirty="0"/>
              <a:t>&lt;p&gt;In this example, x, y, and z are variables.&lt;/p&gt;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 err="1"/>
              <a:t>const</a:t>
            </a:r>
            <a:r>
              <a:rPr lang="en-IN" dirty="0"/>
              <a:t> x = 5;</a:t>
            </a:r>
          </a:p>
          <a:p>
            <a:r>
              <a:rPr lang="en-IN" dirty="0" err="1"/>
              <a:t>const</a:t>
            </a:r>
            <a:r>
              <a:rPr lang="en-IN" dirty="0"/>
              <a:t> y = 6;</a:t>
            </a:r>
          </a:p>
          <a:p>
            <a:r>
              <a:rPr lang="en-IN" dirty="0" err="1"/>
              <a:t>const</a:t>
            </a:r>
            <a:r>
              <a:rPr lang="en-IN" dirty="0"/>
              <a:t> z = x + y;</a:t>
            </a:r>
          </a:p>
          <a:p>
            <a:endParaRPr lang="en-IN" dirty="0"/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"The value of z is " + z;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583108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83440" y="2960787"/>
            <a:ext cx="37096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Segoe UI" panose="020B0502040204020203" pitchFamily="34" charset="0"/>
              </a:rPr>
              <a:t>JavaScript Datatypes</a:t>
            </a:r>
          </a:p>
        </p:txBody>
      </p:sp>
    </p:spTree>
    <p:extLst>
      <p:ext uri="{BB962C8B-B14F-4D97-AF65-F5344CB8AC3E}">
        <p14:creationId xmlns:p14="http://schemas.microsoft.com/office/powerpoint/2010/main" val="7515718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769960"/>
              </p:ext>
            </p:extLst>
          </p:nvPr>
        </p:nvGraphicFramePr>
        <p:xfrm>
          <a:off x="322263" y="1563120"/>
          <a:ext cx="8097836" cy="4610216"/>
        </p:xfrm>
        <a:graphic>
          <a:graphicData uri="http://schemas.openxmlformats.org/drawingml/2006/table">
            <a:tbl>
              <a:tblPr/>
              <a:tblGrid>
                <a:gridCol w="4048918">
                  <a:extLst>
                    <a:ext uri="{9D8B030D-6E8A-4147-A177-3AD203B41FA5}">
                      <a16:colId xmlns:a16="http://schemas.microsoft.com/office/drawing/2014/main" val="2512269122"/>
                    </a:ext>
                  </a:extLst>
                </a:gridCol>
                <a:gridCol w="4048918">
                  <a:extLst>
                    <a:ext uri="{9D8B030D-6E8A-4147-A177-3AD203B41FA5}">
                      <a16:colId xmlns:a16="http://schemas.microsoft.com/office/drawing/2014/main" val="2150245162"/>
                    </a:ext>
                  </a:extLst>
                </a:gridCol>
              </a:tblGrid>
              <a:tr h="278702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89328" marR="89328" marT="44664" marB="44664"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89328" marR="89328" marT="44664" marB="44664"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487391"/>
                  </a:ext>
                </a:extLst>
              </a:tr>
              <a:tr h="287841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Type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Description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173654"/>
                  </a:ext>
                </a:extLst>
              </a:tr>
              <a:tr h="44431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String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text of characters enclosed in quotes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866724"/>
                  </a:ext>
                </a:extLst>
              </a:tr>
              <a:tr h="484294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Number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A number representing a mathematical value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028317"/>
                  </a:ext>
                </a:extLst>
              </a:tr>
              <a:tr h="44431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Bigint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number representing a large integer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539690"/>
                  </a:ext>
                </a:extLst>
              </a:tr>
              <a:tr h="624543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Boolean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data type representing true or false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336056"/>
                  </a:ext>
                </a:extLst>
              </a:tr>
              <a:tr h="44431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Object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collection of key-value pairs of data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990099"/>
                  </a:ext>
                </a:extLst>
              </a:tr>
              <a:tr h="484294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Undefined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primitive variable with no assigned value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038377"/>
                  </a:ext>
                </a:extLst>
              </a:tr>
              <a:tr h="624543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Null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primitive value representing object absence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780234"/>
                  </a:ext>
                </a:extLst>
              </a:tr>
              <a:tr h="44431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Symbol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A unique and primitive identifier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306393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22263" y="896282"/>
            <a:ext cx="6878637" cy="866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JavaScript has 8 Datatypes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A JavaScript variable can hold 8 types of data: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204615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974" y="217587"/>
            <a:ext cx="18630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+mj-lt"/>
              </a:rPr>
              <a:t>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3974" y="863977"/>
            <a:ext cx="790575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  <a:t>// String</a:t>
            </a:r>
            <a:b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1800" dirty="0">
                <a:latin typeface="Consolas" panose="020B0609020204030204" pitchFamily="49" charset="0"/>
              </a:rPr>
              <a:t> </a:t>
            </a:r>
            <a:r>
              <a:rPr lang="en-IN" sz="1800" dirty="0" err="1">
                <a:latin typeface="Consolas" panose="020B0609020204030204" pitchFamily="49" charset="0"/>
              </a:rPr>
              <a:t>color</a:t>
            </a:r>
            <a:r>
              <a:rPr lang="en-IN" sz="1800" dirty="0">
                <a:latin typeface="Consolas" panose="020B0609020204030204" pitchFamily="49" charset="0"/>
              </a:rPr>
              <a:t> = 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"Yellow"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  <a:br>
              <a:rPr lang="en-IN" sz="1800" dirty="0"/>
            </a:b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1800" dirty="0">
                <a:latin typeface="Consolas" panose="020B0609020204030204" pitchFamily="49" charset="0"/>
              </a:rPr>
              <a:t> </a:t>
            </a:r>
            <a:r>
              <a:rPr lang="en-IN" sz="1800" dirty="0" err="1">
                <a:latin typeface="Consolas" panose="020B0609020204030204" pitchFamily="49" charset="0"/>
              </a:rPr>
              <a:t>lastName</a:t>
            </a:r>
            <a:r>
              <a:rPr lang="en-IN" sz="1800" dirty="0">
                <a:latin typeface="Consolas" panose="020B0609020204030204" pitchFamily="49" charset="0"/>
              </a:rPr>
              <a:t> = 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"Johnson"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  <a:br>
              <a:rPr lang="en-IN" sz="1800" dirty="0"/>
            </a:br>
            <a:br>
              <a:rPr lang="en-IN" sz="1800" dirty="0"/>
            </a:br>
            <a: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  <a:t>// Number</a:t>
            </a:r>
            <a:b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1800" dirty="0">
                <a:latin typeface="Consolas" panose="020B0609020204030204" pitchFamily="49" charset="0"/>
              </a:rPr>
              <a:t> length = </a:t>
            </a:r>
            <a:r>
              <a:rPr lang="en-IN" sz="1800" dirty="0">
                <a:solidFill>
                  <a:srgbClr val="990055"/>
                </a:solidFill>
                <a:latin typeface="Consolas" panose="020B0609020204030204" pitchFamily="49" charset="0"/>
              </a:rPr>
              <a:t>16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  <a:br>
              <a:rPr lang="en-IN" sz="1800" dirty="0"/>
            </a:b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1800" dirty="0">
                <a:latin typeface="Consolas" panose="020B0609020204030204" pitchFamily="49" charset="0"/>
              </a:rPr>
              <a:t> weight = </a:t>
            </a:r>
            <a:r>
              <a:rPr lang="en-IN" sz="1800" dirty="0">
                <a:solidFill>
                  <a:srgbClr val="990055"/>
                </a:solidFill>
                <a:latin typeface="Consolas" panose="020B0609020204030204" pitchFamily="49" charset="0"/>
              </a:rPr>
              <a:t>7.5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  <a:br>
              <a:rPr lang="en-IN" sz="1800" dirty="0"/>
            </a:br>
            <a:br>
              <a:rPr lang="en-IN" sz="1800" dirty="0"/>
            </a:br>
            <a: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  <a:t>// </a:t>
            </a:r>
            <a:r>
              <a:rPr lang="en-IN" sz="1800" dirty="0" err="1">
                <a:solidFill>
                  <a:srgbClr val="708090"/>
                </a:solidFill>
                <a:latin typeface="Consolas" panose="020B0609020204030204" pitchFamily="49" charset="0"/>
              </a:rPr>
              <a:t>BigInt</a:t>
            </a:r>
            <a:b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1800" dirty="0">
                <a:latin typeface="Consolas" panose="020B0609020204030204" pitchFamily="49" charset="0"/>
              </a:rPr>
              <a:t> x = </a:t>
            </a:r>
            <a:r>
              <a:rPr lang="en-IN" sz="1800" dirty="0">
                <a:solidFill>
                  <a:srgbClr val="990055"/>
                </a:solidFill>
                <a:latin typeface="Consolas" panose="020B0609020204030204" pitchFamily="49" charset="0"/>
              </a:rPr>
              <a:t>1234567890123456789012345</a:t>
            </a:r>
            <a:r>
              <a:rPr lang="en-IN" sz="1800" dirty="0">
                <a:latin typeface="Consolas" panose="020B0609020204030204" pitchFamily="49" charset="0"/>
              </a:rPr>
              <a:t>n;</a:t>
            </a:r>
            <a:br>
              <a:rPr lang="en-IN" sz="1800" dirty="0"/>
            </a:b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1800" dirty="0">
                <a:latin typeface="Consolas" panose="020B0609020204030204" pitchFamily="49" charset="0"/>
              </a:rPr>
              <a:t> y = </a:t>
            </a:r>
            <a:r>
              <a:rPr lang="en-IN" sz="1800" dirty="0" err="1">
                <a:latin typeface="Consolas" panose="020B0609020204030204" pitchFamily="49" charset="0"/>
              </a:rPr>
              <a:t>BigInt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990055"/>
                </a:solidFill>
                <a:latin typeface="Consolas" panose="020B0609020204030204" pitchFamily="49" charset="0"/>
              </a:rPr>
              <a:t>1234567890123456789012345</a:t>
            </a:r>
            <a:r>
              <a:rPr lang="en-IN" sz="1800" dirty="0">
                <a:latin typeface="Consolas" panose="020B0609020204030204" pitchFamily="49" charset="0"/>
              </a:rPr>
              <a:t>)</a:t>
            </a:r>
            <a:br>
              <a:rPr lang="en-IN" sz="1800" dirty="0"/>
            </a:br>
            <a:br>
              <a:rPr lang="en-IN" sz="1800" dirty="0"/>
            </a:br>
            <a: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  <a:t>// Boolean</a:t>
            </a:r>
            <a:b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1800" dirty="0">
                <a:latin typeface="Consolas" panose="020B0609020204030204" pitchFamily="49" charset="0"/>
              </a:rPr>
              <a:t> x = </a:t>
            </a: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true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  <a:br>
              <a:rPr lang="en-IN" sz="1800" dirty="0"/>
            </a:b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1800" dirty="0">
                <a:latin typeface="Consolas" panose="020B0609020204030204" pitchFamily="49" charset="0"/>
              </a:rPr>
              <a:t> y = </a:t>
            </a: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false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  <a:br>
              <a:rPr lang="en-IN" sz="1800" dirty="0"/>
            </a:br>
            <a:br>
              <a:rPr lang="en-IN" sz="1800" dirty="0"/>
            </a:br>
            <a: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  <a:t>// Object</a:t>
            </a:r>
            <a:b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1800" dirty="0" err="1">
                <a:solidFill>
                  <a:srgbClr val="005CC5"/>
                </a:solidFill>
                <a:latin typeface="Consolas" panose="020B0609020204030204" pitchFamily="49" charset="0"/>
              </a:rPr>
              <a:t>const</a:t>
            </a:r>
            <a:r>
              <a:rPr lang="en-IN" sz="1800" dirty="0">
                <a:latin typeface="Consolas" panose="020B0609020204030204" pitchFamily="49" charset="0"/>
              </a:rPr>
              <a:t> person = {</a:t>
            </a:r>
            <a:r>
              <a:rPr lang="en-IN" sz="1800" dirty="0" err="1">
                <a:latin typeface="Consolas" panose="020B0609020204030204" pitchFamily="49" charset="0"/>
              </a:rPr>
              <a:t>firstName</a:t>
            </a:r>
            <a:r>
              <a:rPr lang="en-IN" sz="1800" dirty="0">
                <a:latin typeface="Consolas" panose="020B0609020204030204" pitchFamily="49" charset="0"/>
              </a:rPr>
              <a:t>: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"John"</a:t>
            </a:r>
            <a:r>
              <a:rPr lang="en-IN" sz="1800" dirty="0">
                <a:latin typeface="Consolas" panose="020B0609020204030204" pitchFamily="49" charset="0"/>
              </a:rPr>
              <a:t>, </a:t>
            </a:r>
            <a:r>
              <a:rPr lang="en-IN" sz="1800" dirty="0" err="1">
                <a:latin typeface="Consolas" panose="020B0609020204030204" pitchFamily="49" charset="0"/>
              </a:rPr>
              <a:t>lastName</a:t>
            </a:r>
            <a:r>
              <a:rPr lang="en-IN" sz="1800" dirty="0">
                <a:latin typeface="Consolas" panose="020B0609020204030204" pitchFamily="49" charset="0"/>
              </a:rPr>
              <a:t>: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"Doe"</a:t>
            </a:r>
            <a:r>
              <a:rPr lang="en-IN" sz="1800" dirty="0">
                <a:latin typeface="Consolas" panose="020B0609020204030204" pitchFamily="49" charset="0"/>
              </a:rPr>
              <a:t>};</a:t>
            </a:r>
            <a:br>
              <a:rPr lang="en-IN" sz="1800" dirty="0"/>
            </a:br>
            <a:br>
              <a:rPr lang="en-IN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835615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974" y="217587"/>
            <a:ext cx="18630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+mj-lt"/>
              </a:rPr>
              <a:t>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5250" y="837188"/>
            <a:ext cx="80772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  <a:t>// Array object</a:t>
            </a:r>
            <a:b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2000" dirty="0" err="1">
                <a:solidFill>
                  <a:srgbClr val="005CC5"/>
                </a:solidFill>
                <a:latin typeface="Consolas" panose="020B0609020204030204" pitchFamily="49" charset="0"/>
              </a:rPr>
              <a:t>const</a:t>
            </a:r>
            <a:r>
              <a:rPr lang="en-IN" sz="2000" dirty="0">
                <a:latin typeface="Consolas" panose="020B0609020204030204" pitchFamily="49" charset="0"/>
              </a:rPr>
              <a:t> cars = [</a:t>
            </a:r>
            <a:r>
              <a:rPr lang="en-IN" sz="2000" dirty="0">
                <a:solidFill>
                  <a:srgbClr val="008000"/>
                </a:solidFill>
                <a:latin typeface="Consolas" panose="020B0609020204030204" pitchFamily="49" charset="0"/>
              </a:rPr>
              <a:t>"Saab"</a:t>
            </a:r>
            <a:r>
              <a:rPr lang="en-IN" sz="2000" dirty="0">
                <a:latin typeface="Consolas" panose="020B0609020204030204" pitchFamily="49" charset="0"/>
              </a:rPr>
              <a:t>, </a:t>
            </a:r>
            <a:r>
              <a:rPr lang="en-IN" sz="2000" dirty="0">
                <a:solidFill>
                  <a:srgbClr val="008000"/>
                </a:solidFill>
                <a:latin typeface="Consolas" panose="020B0609020204030204" pitchFamily="49" charset="0"/>
              </a:rPr>
              <a:t>"Volvo"</a:t>
            </a:r>
            <a:r>
              <a:rPr lang="en-IN" sz="2000" dirty="0">
                <a:latin typeface="Consolas" panose="020B0609020204030204" pitchFamily="49" charset="0"/>
              </a:rPr>
              <a:t>, </a:t>
            </a:r>
            <a:r>
              <a:rPr lang="en-IN" sz="2000" dirty="0">
                <a:solidFill>
                  <a:srgbClr val="008000"/>
                </a:solidFill>
                <a:latin typeface="Consolas" panose="020B0609020204030204" pitchFamily="49" charset="0"/>
              </a:rPr>
              <a:t>"BMW"</a:t>
            </a:r>
            <a:r>
              <a:rPr lang="en-IN" sz="2000" dirty="0">
                <a:latin typeface="Consolas" panose="020B0609020204030204" pitchFamily="49" charset="0"/>
              </a:rPr>
              <a:t>];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  <a:t>// Date object</a:t>
            </a:r>
            <a:b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2000" dirty="0" err="1">
                <a:solidFill>
                  <a:srgbClr val="005CC5"/>
                </a:solidFill>
                <a:latin typeface="Consolas" panose="020B0609020204030204" pitchFamily="49" charset="0"/>
              </a:rPr>
              <a:t>const</a:t>
            </a:r>
            <a:r>
              <a:rPr lang="en-IN" sz="2000" dirty="0">
                <a:latin typeface="Consolas" panose="020B0609020204030204" pitchFamily="49" charset="0"/>
              </a:rPr>
              <a:t> date = </a:t>
            </a:r>
            <a:r>
              <a:rPr lang="en-IN" sz="2000" dirty="0">
                <a:solidFill>
                  <a:srgbClr val="005CC5"/>
                </a:solidFill>
                <a:latin typeface="Consolas" panose="020B0609020204030204" pitchFamily="49" charset="0"/>
              </a:rPr>
              <a:t>new</a:t>
            </a:r>
            <a:r>
              <a:rPr lang="en-IN" sz="2000" dirty="0">
                <a:latin typeface="Consolas" panose="020B0609020204030204" pitchFamily="49" charset="0"/>
              </a:rPr>
              <a:t> Date(</a:t>
            </a:r>
            <a:r>
              <a:rPr lang="en-IN" sz="2000" dirty="0">
                <a:solidFill>
                  <a:srgbClr val="008000"/>
                </a:solidFill>
                <a:latin typeface="Consolas" panose="020B0609020204030204" pitchFamily="49" charset="0"/>
              </a:rPr>
              <a:t>"2022-03-25"</a:t>
            </a:r>
            <a:r>
              <a:rPr lang="en-IN" sz="2000" dirty="0">
                <a:latin typeface="Consolas" panose="020B0609020204030204" pitchFamily="49" charset="0"/>
              </a:rPr>
              <a:t>);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  <a:t>// Undefined</a:t>
            </a:r>
            <a:b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20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2000" dirty="0">
                <a:latin typeface="Consolas" panose="020B0609020204030204" pitchFamily="49" charset="0"/>
              </a:rPr>
              <a:t> x;</a:t>
            </a:r>
            <a:br>
              <a:rPr lang="en-IN" sz="2000" dirty="0"/>
            </a:br>
            <a:r>
              <a:rPr lang="en-IN" sz="20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2000" dirty="0">
                <a:latin typeface="Consolas" panose="020B0609020204030204" pitchFamily="49" charset="0"/>
              </a:rPr>
              <a:t> y;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  <a:t>// Null</a:t>
            </a:r>
            <a:b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20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2000" dirty="0">
                <a:latin typeface="Consolas" panose="020B0609020204030204" pitchFamily="49" charset="0"/>
              </a:rPr>
              <a:t> x = </a:t>
            </a:r>
            <a:r>
              <a:rPr lang="en-IN" sz="2000" dirty="0">
                <a:solidFill>
                  <a:srgbClr val="005CC5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  <a:br>
              <a:rPr lang="en-IN" sz="2000" dirty="0"/>
            </a:br>
            <a:r>
              <a:rPr lang="en-IN" sz="20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2000" dirty="0">
                <a:latin typeface="Consolas" panose="020B0609020204030204" pitchFamily="49" charset="0"/>
              </a:rPr>
              <a:t> y = </a:t>
            </a:r>
            <a:r>
              <a:rPr lang="en-IN" sz="2000" dirty="0">
                <a:solidFill>
                  <a:srgbClr val="005CC5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  <a:t>// Symbol</a:t>
            </a:r>
            <a:b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2000" dirty="0" err="1">
                <a:solidFill>
                  <a:srgbClr val="005CC5"/>
                </a:solidFill>
                <a:latin typeface="Consolas" panose="020B0609020204030204" pitchFamily="49" charset="0"/>
              </a:rPr>
              <a:t>const</a:t>
            </a:r>
            <a:r>
              <a:rPr lang="en-IN" sz="2000" dirty="0">
                <a:latin typeface="Consolas" panose="020B0609020204030204" pitchFamily="49" charset="0"/>
              </a:rPr>
              <a:t> x = Symbol();</a:t>
            </a:r>
            <a:br>
              <a:rPr lang="en-IN" sz="2000" dirty="0"/>
            </a:br>
            <a:r>
              <a:rPr lang="en-IN" sz="2000" dirty="0" err="1">
                <a:solidFill>
                  <a:srgbClr val="005CC5"/>
                </a:solidFill>
                <a:latin typeface="Consolas" panose="020B0609020204030204" pitchFamily="49" charset="0"/>
              </a:rPr>
              <a:t>const</a:t>
            </a:r>
            <a:r>
              <a:rPr lang="en-IN" sz="2000" dirty="0">
                <a:latin typeface="Consolas" panose="020B0609020204030204" pitchFamily="49" charset="0"/>
              </a:rPr>
              <a:t> y = Symbol();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16410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3443</TotalTime>
  <Words>3260</Words>
  <Application>Microsoft Office PowerPoint</Application>
  <PresentationFormat>On-screen Show (4:3)</PresentationFormat>
  <Paragraphs>499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Consolas</vt:lpstr>
      <vt:lpstr>Segoe UI</vt:lpstr>
      <vt:lpstr>Times New Roman</vt:lpstr>
      <vt:lpstr>Office Theme</vt:lpstr>
      <vt:lpstr>PowerPoint Presentation</vt:lpstr>
      <vt:lpstr>JavaScript Introduction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Difference b/w Internal and External Java Script</vt:lpstr>
      <vt:lpstr>Which on is better?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innerHTML </vt:lpstr>
      <vt:lpstr>PowerPoint Presentation</vt:lpstr>
      <vt:lpstr>PowerPoint Presentation</vt:lpstr>
      <vt:lpstr>PowerPoint Presentation</vt:lpstr>
      <vt:lpstr>Using window.alert() </vt:lpstr>
      <vt:lpstr>PowerPoint Presentation</vt:lpstr>
      <vt:lpstr>Using console.log()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JavaScript Keywords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Surbhi _B</cp:lastModifiedBy>
  <cp:revision>24</cp:revision>
  <dcterms:created xsi:type="dcterms:W3CDTF">2010-04-09T07:36:15Z</dcterms:created>
  <dcterms:modified xsi:type="dcterms:W3CDTF">2026-02-02T14:49:36Z</dcterms:modified>
</cp:coreProperties>
</file>