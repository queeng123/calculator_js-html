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3"/>
  </p:notesMasterIdLst>
  <p:sldIdLst>
    <p:sldId id="256" r:id="rId2"/>
    <p:sldId id="345" r:id="rId3"/>
    <p:sldId id="348" r:id="rId4"/>
    <p:sldId id="347" r:id="rId5"/>
    <p:sldId id="349" r:id="rId6"/>
    <p:sldId id="351" r:id="rId7"/>
    <p:sldId id="352" r:id="rId8"/>
    <p:sldId id="353" r:id="rId9"/>
    <p:sldId id="354" r:id="rId10"/>
    <p:sldId id="355" r:id="rId11"/>
    <p:sldId id="356" r:id="rId12"/>
    <p:sldId id="346" r:id="rId13"/>
    <p:sldId id="357" r:id="rId14"/>
    <p:sldId id="298" r:id="rId15"/>
    <p:sldId id="344" r:id="rId16"/>
    <p:sldId id="358" r:id="rId17"/>
    <p:sldId id="339" r:id="rId18"/>
    <p:sldId id="359" r:id="rId19"/>
    <p:sldId id="296" r:id="rId20"/>
    <p:sldId id="325" r:id="rId21"/>
    <p:sldId id="360" r:id="rId22"/>
    <p:sldId id="297" r:id="rId23"/>
    <p:sldId id="361" r:id="rId24"/>
    <p:sldId id="327" r:id="rId25"/>
    <p:sldId id="328" r:id="rId26"/>
    <p:sldId id="329" r:id="rId27"/>
    <p:sldId id="330" r:id="rId28"/>
    <p:sldId id="331" r:id="rId29"/>
    <p:sldId id="336" r:id="rId30"/>
    <p:sldId id="337" r:id="rId31"/>
    <p:sldId id="323" r:id="rId32"/>
  </p:sldIdLst>
  <p:sldSz cx="9144000" cy="6858000" type="screen4x3"/>
  <p:notesSz cx="6858000" cy="9144000"/>
  <p:embeddedFontLst>
    <p:embeddedFont>
      <p:font typeface="Consolas" panose="020B0609020204030204" pitchFamily="49" charset="0"/>
      <p:regular r:id="rId34"/>
      <p:bold r:id="rId35"/>
      <p:italic r:id="rId36"/>
      <p:boldItalic r:id="rId37"/>
    </p:embeddedFont>
    <p:embeddedFont>
      <p:font typeface="Nunito" pitchFamily="2"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2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5"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24CE57-81FB-4CE5-B3F0-45E823DBC81C}"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snapToGrid="0" showGuides="1">
      <p:cViewPr varScale="1">
        <p:scale>
          <a:sx n="101" d="100"/>
          <a:sy n="101" d="100"/>
        </p:scale>
        <p:origin x="96" y="58"/>
      </p:cViewPr>
      <p:guideLst>
        <p:guide orient="horz" pos="2160"/>
        <p:guide pos="2829"/>
      </p:guideLst>
    </p:cSldViewPr>
  </p:slideViewPr>
  <p:outlineViewPr>
    <p:cViewPr>
      <p:scale>
        <a:sx n="33" d="100"/>
        <a:sy n="33" d="100"/>
      </p:scale>
      <p:origin x="0" y="-2519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bhi _B" userId="a0c33b1ae0bdaa29" providerId="LiveId" clId="{7B325C33-94D7-43C2-A6A0-9EF9F5DD8C16}"/>
    <pc:docChg chg="modSld">
      <pc:chgData name="Surbhi _B" userId="a0c33b1ae0bdaa29" providerId="LiveId" clId="{7B325C33-94D7-43C2-A6A0-9EF9F5DD8C16}" dt="2026-02-18T11:52:07.395" v="0" actId="1076"/>
      <pc:docMkLst>
        <pc:docMk/>
      </pc:docMkLst>
      <pc:sldChg chg="modSp mod">
        <pc:chgData name="Surbhi _B" userId="a0c33b1ae0bdaa29" providerId="LiveId" clId="{7B325C33-94D7-43C2-A6A0-9EF9F5DD8C16}" dt="2026-02-18T11:52:07.395" v="0" actId="1076"/>
        <pc:sldMkLst>
          <pc:docMk/>
          <pc:sldMk cId="126866815" sldId="354"/>
        </pc:sldMkLst>
        <pc:spChg chg="mod">
          <ac:chgData name="Surbhi _B" userId="a0c33b1ae0bdaa29" providerId="LiveId" clId="{7B325C33-94D7-43C2-A6A0-9EF9F5DD8C16}" dt="2026-02-18T11:52:07.395" v="0" actId="1076"/>
          <ac:spMkLst>
            <pc:docMk/>
            <pc:sldMk cId="126866815" sldId="354"/>
            <ac:spMk id="4" creationId="{95B85C09-E59E-1CD3-8287-5AE88EA4AF1B}"/>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6-02-04T14:40:00.307" idx="2">
    <p:pos x="3591" y="1359"/>
    <p:text>&lt;!DOCTYPE html&gt;
&lt;html&gt;
&lt;body&gt;
&lt;h2&gt;Function Declaration Example&lt;/h2&gt;
&lt;script&gt;
function greet() {
  document.write("Hello! Welcome to JavaScript.");
}
greet();   // function call
&lt;/script&gt;
&lt;/body&gt;
&lt;/html&gt;</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2-04T14:30:04.922" idx="1">
    <p:pos x="3591" y="2178"/>
    <p:text>function showMessage() → defines the function
Code inside { } runs when the function is called
Button click calls the function</p:text>
    <p:extLst>
      <p:ext uri="{C676402C-5697-4E1C-873F-D02D1690AC5C}">
        <p15:threadingInfo xmlns:p15="http://schemas.microsoft.com/office/powerpoint/2012/main" timeZoneBias="-33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2-04T15:11:39.485" idx="4">
    <p:pos x="2277" y="2457"/>
    <p:text>An arrow function named show is created
The function is stored in memory
It is NOT executed immediately
onclick is an event
When the button is clicked:
Browser looks for a function named show
It finds the function created in the &lt;script&gt; tag
alert() is a built-in JavaScript function
It displays a popup message on the screen</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9" name="Google Shape;4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39"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26" name="Google Shape;26;p39"/>
          <p:cNvGrpSpPr/>
          <p:nvPr/>
        </p:nvGrpSpPr>
        <p:grpSpPr>
          <a:xfrm>
            <a:off x="6146800" y="0"/>
            <a:ext cx="2997200" cy="876300"/>
            <a:chOff x="6096000" y="3924300"/>
            <a:chExt cx="2997200" cy="876300"/>
          </a:xfrm>
        </p:grpSpPr>
        <p:sp>
          <p:nvSpPr>
            <p:cNvPr id="27" name="Google Shape;27;p39"/>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8" name="Google Shape;28;p39"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29" name="Google Shape;29;p39"/>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30" name="Google Shape;30;p39"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1" name="Google Shape;31;p3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panose="02020603050405020304"/>
                <a:ea typeface="Times New Roman" panose="02020603050405020304"/>
                <a:cs typeface="Times New Roman" panose="02020603050405020304"/>
                <a:sym typeface="Times New Roman" panose="020206030504050203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3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1pPr>
            <a:lvl2pPr marL="914400" lvl="1"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2pPr>
            <a:lvl3pPr marL="1371600" lvl="2"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3pPr>
            <a:lvl4pPr marL="1828800" lvl="3"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4pPr>
            <a:lvl5pPr marL="2286000" lvl="4" indent="-368300" algn="l">
              <a:spcBef>
                <a:spcPts val="440"/>
              </a:spcBef>
              <a:spcAft>
                <a:spcPts val="0"/>
              </a:spcAft>
              <a:buClr>
                <a:schemeClr val="dk1"/>
              </a:buClr>
              <a:buSzPts val="2200"/>
              <a:buChar char="»"/>
              <a:defRPr sz="2200">
                <a:latin typeface="Times New Roman" panose="02020603050405020304"/>
                <a:ea typeface="Times New Roman" panose="02020603050405020304"/>
                <a:cs typeface="Times New Roman" panose="02020603050405020304"/>
                <a:sym typeface="Times New Roman" panose="02020603050405020304"/>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
        <p:cNvGrpSpPr/>
        <p:nvPr/>
      </p:nvGrpSpPr>
      <p:grpSpPr>
        <a:xfrm>
          <a:off x="0" y="0"/>
          <a:ext cx="0" cy="0"/>
          <a:chOff x="0" y="0"/>
          <a:chExt cx="0" cy="0"/>
        </a:xfrm>
      </p:grpSpPr>
      <p:sp>
        <p:nvSpPr>
          <p:cNvPr id="37" name="Google Shape;37;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41"/>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panose="02020603050405020304"/>
                <a:ea typeface="Times New Roman" panose="02020603050405020304"/>
                <a:cs typeface="Times New Roman" panose="02020603050405020304"/>
                <a:sym typeface="Times New Roman" panose="020206030504050203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41"/>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3" name="Google Shape;43;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L="0" lvl="1"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2pPr>
            <a:lvl3pPr marL="0" lvl="2"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3pPr>
            <a:lvl4pPr marL="0" lvl="3"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4pPr>
            <a:lvl5pPr marL="0" lvl="4"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5pPr>
            <a:lvl6pPr marL="0" lvl="5"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6pPr>
            <a:lvl7pPr marL="0" lvl="6"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7pPr>
            <a:lvl8pPr marL="0" lvl="7"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8pPr>
            <a:lvl9pPr marL="0" lvl="8" indent="0" algn="r">
              <a:spcBef>
                <a:spcPts val="0"/>
              </a:spcBef>
              <a:spcAft>
                <a:spcPts val="0"/>
              </a:spcAft>
              <a:buNone/>
              <a:defRPr sz="1200" b="1">
                <a:solidFill>
                  <a:srgbClr val="0070C0"/>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3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spcBef>
                <a:spcPts val="0"/>
              </a:spcBef>
              <a:spcAft>
                <a:spcPts val="0"/>
              </a:spcAft>
              <a:buNone/>
              <a:defRPr sz="1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t>‹#›</a:t>
            </a:fld>
            <a:endParaRPr lang="en-US"/>
          </a:p>
        </p:txBody>
      </p:sp>
      <p:sp>
        <p:nvSpPr>
          <p:cNvPr id="15" name="Google Shape;15;p38"/>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 name="Google Shape;16;p38"/>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7" name="Google Shape;17;p38" descr="LOGO.gif"/>
          <p:cNvPicPr preferRelativeResize="0"/>
          <p:nvPr/>
        </p:nvPicPr>
        <p:blipFill rotWithShape="1">
          <a:blip r:embed="rId5"/>
          <a:srcRect b="10713"/>
          <a:stretch>
            <a:fillRect/>
          </a:stretch>
        </p:blipFill>
        <p:spPr>
          <a:xfrm>
            <a:off x="6553200" y="228600"/>
            <a:ext cx="2057400" cy="635000"/>
          </a:xfrm>
          <a:prstGeom prst="rect">
            <a:avLst/>
          </a:prstGeom>
          <a:noFill/>
          <a:ln>
            <a:noFill/>
          </a:ln>
        </p:spPr>
      </p:pic>
      <p:pic>
        <p:nvPicPr>
          <p:cNvPr id="18" name="Google Shape;18;p38" descr="LOGO.gif"/>
          <p:cNvPicPr preferRelativeResize="0"/>
          <p:nvPr/>
        </p:nvPicPr>
        <p:blipFill rotWithShape="1">
          <a:blip r:embed="rId5"/>
          <a:srcRect b="10713"/>
          <a:stretch>
            <a:fillRect/>
          </a:stretch>
        </p:blipFill>
        <p:spPr>
          <a:xfrm>
            <a:off x="6553200" y="228600"/>
            <a:ext cx="2057400" cy="635000"/>
          </a:xfrm>
          <a:prstGeom prst="rect">
            <a:avLst/>
          </a:prstGeom>
          <a:noFill/>
          <a:ln>
            <a:noFill/>
          </a:ln>
        </p:spPr>
      </p:pic>
      <p:grpSp>
        <p:nvGrpSpPr>
          <p:cNvPr id="19" name="Google Shape;19;p38"/>
          <p:cNvGrpSpPr/>
          <p:nvPr/>
        </p:nvGrpSpPr>
        <p:grpSpPr>
          <a:xfrm>
            <a:off x="6146800" y="0"/>
            <a:ext cx="2997200" cy="876300"/>
            <a:chOff x="6096000" y="3924300"/>
            <a:chExt cx="2997200" cy="876300"/>
          </a:xfrm>
        </p:grpSpPr>
        <p:sp>
          <p:nvSpPr>
            <p:cNvPr id="20" name="Google Shape;20;p3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1" name="Google Shape;21;p38" descr="LOGO.gif"/>
            <p:cNvPicPr preferRelativeResize="0"/>
            <p:nvPr/>
          </p:nvPicPr>
          <p:blipFill rotWithShape="1">
            <a:blip r:embed="rId5"/>
            <a:srcRect b="10713"/>
            <a:stretch>
              <a:fillRect/>
            </a:stretch>
          </p:blipFill>
          <p:spPr>
            <a:xfrm>
              <a:off x="6502400" y="4152900"/>
              <a:ext cx="2057400" cy="635000"/>
            </a:xfrm>
            <a:prstGeom prst="rect">
              <a:avLst/>
            </a:prstGeom>
            <a:noFill/>
            <a:ln>
              <a:noFill/>
            </a:ln>
          </p:spPr>
        </p:pic>
        <p:sp>
          <p:nvSpPr>
            <p:cNvPr id="22" name="Google Shape;22;p3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3" name="Google Shape;23;p38" descr="logo.jpg"/>
          <p:cNvPicPr preferRelativeResize="0"/>
          <p:nvPr/>
        </p:nvPicPr>
        <p:blipFill rotWithShape="1">
          <a:blip r:embed="rId6"/>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javascript/javascript-callbacks/" TargetMode="External"/><Relationship Id="rId2" Type="http://schemas.openxmlformats.org/officeDocument/2006/relationships/hyperlink" Target="https://www.geeksforgeeks.org/javascript/javascript-hoisting/" TargetMode="External"/><Relationship Id="rId1" Type="http://schemas.openxmlformats.org/officeDocument/2006/relationships/slideLayout" Target="../slideLayouts/slideLayout2.xml"/><Relationship Id="rId5" Type="http://schemas.openxmlformats.org/officeDocument/2006/relationships/hyperlink" Target="https://www.geeksforgeeks.org/javascript/encapsulation-in-javascript/" TargetMode="External"/><Relationship Id="rId4" Type="http://schemas.openxmlformats.org/officeDocument/2006/relationships/hyperlink" Target="https://www.geeksforgeeks.org/javascript/closure-in-javascrip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
          <p:cNvSpPr txBox="1"/>
          <p:nvPr/>
        </p:nvSpPr>
        <p:spPr>
          <a:xfrm>
            <a:off x="152400" y="914400"/>
            <a:ext cx="8763000" cy="3606800"/>
          </a:xfrm>
          <a:prstGeom prst="rect">
            <a:avLst/>
          </a:prstGeom>
          <a:noFill/>
          <a:ln>
            <a:noFill/>
          </a:ln>
        </p:spPr>
        <p:txBody>
          <a:bodyPr spcFirstLastPara="1" wrap="square" lIns="91425" tIns="33100" rIns="91425" bIns="45700" anchor="ctr" anchorCtr="0">
            <a:noAutofit/>
          </a:bodyPr>
          <a:lstStyle/>
          <a:p>
            <a:pPr marL="0" lvl="0" indent="0" algn="ctr" rtl="0">
              <a:lnSpc>
                <a:spcPct val="115000"/>
              </a:lnSpc>
              <a:spcBef>
                <a:spcPts val="1200"/>
              </a:spcBef>
              <a:spcAft>
                <a:spcPts val="1200"/>
              </a:spcAft>
              <a:buSzPts val="1100"/>
              <a:buNone/>
            </a:pPr>
            <a:r>
              <a:rPr lang="en-US" altLang="en-US" sz="9600" b="1" dirty="0">
                <a:solidFill>
                  <a:schemeClr val="dk1"/>
                </a:solidFill>
                <a:latin typeface="Calibri" panose="020F0502020204030204"/>
                <a:ea typeface="Calibri" panose="020F0502020204030204"/>
                <a:cs typeface="Calibri" panose="020F0502020204030204"/>
                <a:sym typeface="Calibri" panose="020F0502020204030204"/>
              </a:rPr>
              <a:t>Functions &amp; Scoping</a:t>
            </a:r>
          </a:p>
        </p:txBody>
      </p:sp>
      <p:sp>
        <p:nvSpPr>
          <p:cNvPr id="52" name="Google Shape;52;p1"/>
          <p:cNvSpPr txBox="1"/>
          <p:nvPr/>
        </p:nvSpPr>
        <p:spPr>
          <a:xfrm>
            <a:off x="1905000" y="4953000"/>
            <a:ext cx="4762500" cy="643890"/>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4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 name="Google Shape;53;p1"/>
          <p:cNvSpPr txBox="1"/>
          <p:nvPr/>
        </p:nvSpPr>
        <p:spPr>
          <a:xfrm>
            <a:off x="1676400" y="5599331"/>
            <a:ext cx="61722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Times New Roman" panose="02020603050405020304"/>
                <a:ea typeface="Times New Roman" panose="02020603050405020304"/>
                <a:cs typeface="Times New Roman" panose="02020603050405020304"/>
                <a:sym typeface="Times New Roman" panose="02020603050405020304"/>
              </a:rPr>
              <a:t>Department of Computer Science and Engineering</a:t>
            </a:r>
          </a:p>
          <a:p>
            <a:pPr marL="0" marR="0" lvl="0" indent="0" algn="ctr" rtl="0">
              <a:spcBef>
                <a:spcPts val="0"/>
              </a:spcBef>
              <a:spcAft>
                <a:spcPts val="0"/>
              </a:spcAft>
              <a:buNone/>
            </a:pPr>
            <a:r>
              <a:rPr lang="en-US" sz="1800">
                <a:solidFill>
                  <a:srgbClr val="FF0000"/>
                </a:solidFill>
                <a:latin typeface="Times New Roman" panose="02020603050405020304"/>
                <a:ea typeface="Times New Roman" panose="02020603050405020304"/>
                <a:cs typeface="Times New Roman" panose="02020603050405020304"/>
                <a:sym typeface="Times New Roman" panose="02020603050405020304"/>
              </a:rPr>
              <a:t>Chitkara University, Punjab</a:t>
            </a:r>
          </a:p>
        </p:txBody>
      </p:sp>
      <p:sp>
        <p:nvSpPr>
          <p:cNvPr id="54" name="Google Shape;5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Functions in JavaScript</a:t>
            </a:r>
          </a:p>
        </p:txBody>
      </p:sp>
      <p:sp>
        <p:nvSpPr>
          <p:cNvPr id="3" name="Text Placeholder 2"/>
          <p:cNvSpPr>
            <a:spLocks noGrp="1"/>
          </p:cNvSpPr>
          <p:nvPr>
            <p:ph type="body" idx="1"/>
          </p:nvPr>
        </p:nvSpPr>
        <p:spPr>
          <a:xfrm>
            <a:off x="457200" y="1073785"/>
            <a:ext cx="8229600" cy="4824095"/>
          </a:xfrm>
        </p:spPr>
        <p:txBody>
          <a:bodyPr/>
          <a:lstStyle/>
          <a:p>
            <a:r>
              <a:rPr lang="en-US" altLang="en-US"/>
              <a:t>Functions in JavaScript are reusable blocks of code designed to perform specific tasks. They allow you to organize, reuse, and modularize code. It can take inputs, perform actions, and return outputs.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2</a:t>
            </a:fld>
            <a:endParaRPr lang="en-US"/>
          </a:p>
        </p:txBody>
      </p:sp>
      <p:pic>
        <p:nvPicPr>
          <p:cNvPr id="5" name="Picture 4"/>
          <p:cNvPicPr>
            <a:picLocks noChangeAspect="1"/>
          </p:cNvPicPr>
          <p:nvPr/>
        </p:nvPicPr>
        <p:blipFill>
          <a:blip r:embed="rId2"/>
          <a:stretch>
            <a:fillRect/>
          </a:stretch>
        </p:blipFill>
        <p:spPr>
          <a:xfrm>
            <a:off x="889635" y="2843530"/>
            <a:ext cx="7797165" cy="38328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A4F7AB-4B7D-2506-36CE-4C593F690D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4" name="TextBox 3">
            <a:extLst>
              <a:ext uri="{FF2B5EF4-FFF2-40B4-BE49-F238E27FC236}">
                <a16:creationId xmlns:a16="http://schemas.microsoft.com/office/drawing/2014/main" id="{0F0FD329-28B4-5F49-C557-833B7931255B}"/>
              </a:ext>
            </a:extLst>
          </p:cNvPr>
          <p:cNvSpPr txBox="1"/>
          <p:nvPr/>
        </p:nvSpPr>
        <p:spPr>
          <a:xfrm>
            <a:off x="1635919" y="2486025"/>
            <a:ext cx="5872162" cy="1323439"/>
          </a:xfrm>
          <a:prstGeom prst="rect">
            <a:avLst/>
          </a:prstGeom>
          <a:noFill/>
        </p:spPr>
        <p:txBody>
          <a:bodyPr wrap="square">
            <a:spAutoFit/>
          </a:bodyPr>
          <a:lstStyle/>
          <a:p>
            <a:r>
              <a:rPr lang="en-IN" sz="2000" dirty="0"/>
              <a:t>function </a:t>
            </a:r>
            <a:r>
              <a:rPr lang="en-IN" sz="2000" dirty="0" err="1"/>
              <a:t>functionName</a:t>
            </a:r>
            <a:r>
              <a:rPr lang="en-IN" sz="2000" dirty="0"/>
              <a:t>(parameters)</a:t>
            </a:r>
          </a:p>
          <a:p>
            <a:r>
              <a:rPr lang="en-IN" sz="2000" dirty="0"/>
              <a:t> {</a:t>
            </a:r>
          </a:p>
          <a:p>
            <a:r>
              <a:rPr lang="en-IN" sz="2000" dirty="0"/>
              <a:t>  // code to be executed</a:t>
            </a:r>
          </a:p>
          <a:p>
            <a:r>
              <a:rPr lang="en-IN" sz="2000" dirty="0"/>
              <a:t>}</a:t>
            </a:r>
          </a:p>
        </p:txBody>
      </p:sp>
      <p:sp>
        <p:nvSpPr>
          <p:cNvPr id="5" name="TextBox 4">
            <a:extLst>
              <a:ext uri="{FF2B5EF4-FFF2-40B4-BE49-F238E27FC236}">
                <a16:creationId xmlns:a16="http://schemas.microsoft.com/office/drawing/2014/main" id="{87BBFC91-6F87-697A-BB98-E597B041A5B0}"/>
              </a:ext>
            </a:extLst>
          </p:cNvPr>
          <p:cNvSpPr txBox="1"/>
          <p:nvPr/>
        </p:nvSpPr>
        <p:spPr>
          <a:xfrm>
            <a:off x="985838" y="185738"/>
            <a:ext cx="2876108" cy="553998"/>
          </a:xfrm>
          <a:prstGeom prst="rect">
            <a:avLst/>
          </a:prstGeom>
          <a:noFill/>
        </p:spPr>
        <p:txBody>
          <a:bodyPr wrap="none" rtlCol="0">
            <a:spAutoFit/>
          </a:bodyPr>
          <a:lstStyle/>
          <a:p>
            <a:r>
              <a:rPr lang="en-IN" sz="3000" dirty="0"/>
              <a:t>Function syntax</a:t>
            </a:r>
          </a:p>
        </p:txBody>
      </p:sp>
    </p:spTree>
    <p:extLst>
      <p:ext uri="{BB962C8B-B14F-4D97-AF65-F5344CB8AC3E}">
        <p14:creationId xmlns:p14="http://schemas.microsoft.com/office/powerpoint/2010/main" val="1441254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280727-FE16-8B53-A131-B791FD2250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4" name="TextBox 3">
            <a:extLst>
              <a:ext uri="{FF2B5EF4-FFF2-40B4-BE49-F238E27FC236}">
                <a16:creationId xmlns:a16="http://schemas.microsoft.com/office/drawing/2014/main" id="{EC999AB6-7DFF-DFF5-31A5-F5ACF539C480}"/>
              </a:ext>
            </a:extLst>
          </p:cNvPr>
          <p:cNvSpPr txBox="1"/>
          <p:nvPr/>
        </p:nvSpPr>
        <p:spPr>
          <a:xfrm>
            <a:off x="542925" y="985838"/>
            <a:ext cx="8315325" cy="5016758"/>
          </a:xfrm>
          <a:prstGeom prst="rect">
            <a:avLst/>
          </a:prstGeom>
          <a:noFill/>
        </p:spPr>
        <p:txBody>
          <a:bodyPr wrap="square">
            <a:spAutoFit/>
          </a:bodyPr>
          <a:lstStyle/>
          <a:p>
            <a:r>
              <a:rPr lang="en-IN" sz="2000" dirty="0"/>
              <a:t>&lt;!DOCTYPE html&gt;</a:t>
            </a:r>
          </a:p>
          <a:p>
            <a:r>
              <a:rPr lang="en-IN" sz="2000" dirty="0"/>
              <a:t>&lt;html&gt;</a:t>
            </a:r>
          </a:p>
          <a:p>
            <a:r>
              <a:rPr lang="en-IN" sz="2000" dirty="0"/>
              <a:t>&lt;body&gt;</a:t>
            </a:r>
          </a:p>
          <a:p>
            <a:endParaRPr lang="en-IN" sz="2000" dirty="0"/>
          </a:p>
          <a:p>
            <a:r>
              <a:rPr lang="en-IN" sz="2000" dirty="0"/>
              <a:t>&lt;h2&gt;JavaScript Function Example&lt;/h2&gt;</a:t>
            </a:r>
          </a:p>
          <a:p>
            <a:endParaRPr lang="en-IN" sz="2000" dirty="0"/>
          </a:p>
          <a:p>
            <a:r>
              <a:rPr lang="en-IN" sz="2000" dirty="0"/>
              <a:t>&lt;button onclick="</a:t>
            </a:r>
            <a:r>
              <a:rPr lang="en-IN" sz="2000" dirty="0" err="1"/>
              <a:t>showMessage</a:t>
            </a:r>
            <a:r>
              <a:rPr lang="en-IN" sz="2000" dirty="0"/>
              <a:t>()"&gt;Click Me&lt;/button&gt;</a:t>
            </a:r>
          </a:p>
          <a:p>
            <a:endParaRPr lang="en-IN" sz="2000" dirty="0"/>
          </a:p>
          <a:p>
            <a:r>
              <a:rPr lang="en-IN" sz="2000" dirty="0"/>
              <a:t>&lt;script&gt;</a:t>
            </a:r>
          </a:p>
          <a:p>
            <a:r>
              <a:rPr lang="en-IN" sz="2000" dirty="0"/>
              <a:t>function </a:t>
            </a:r>
            <a:r>
              <a:rPr lang="en-IN" sz="2000" dirty="0" err="1"/>
              <a:t>showMessage</a:t>
            </a:r>
            <a:r>
              <a:rPr lang="en-IN" sz="2000" dirty="0"/>
              <a:t>() {</a:t>
            </a:r>
          </a:p>
          <a:p>
            <a:r>
              <a:rPr lang="en-IN" sz="2000" dirty="0"/>
              <a:t>  alert("Hello! This is a JavaScript function.");</a:t>
            </a:r>
          </a:p>
          <a:p>
            <a:r>
              <a:rPr lang="en-IN" sz="2000" dirty="0"/>
              <a:t>}</a:t>
            </a:r>
          </a:p>
          <a:p>
            <a:r>
              <a:rPr lang="en-IN" sz="2000" dirty="0"/>
              <a:t>&lt;/script&gt;</a:t>
            </a:r>
          </a:p>
          <a:p>
            <a:endParaRPr lang="en-IN" sz="2000" dirty="0"/>
          </a:p>
          <a:p>
            <a:r>
              <a:rPr lang="en-IN" sz="2000" dirty="0"/>
              <a:t>&lt;/body&gt;</a:t>
            </a:r>
          </a:p>
          <a:p>
            <a:r>
              <a:rPr lang="en-IN" sz="2000" dirty="0"/>
              <a:t>&lt;/html&gt;</a:t>
            </a:r>
          </a:p>
        </p:txBody>
      </p:sp>
    </p:spTree>
    <p:extLst>
      <p:ext uri="{BB962C8B-B14F-4D97-AF65-F5344CB8AC3E}">
        <p14:creationId xmlns:p14="http://schemas.microsoft.com/office/powerpoint/2010/main" val="3500380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70199-FB86-87FD-4DA7-64805C69E2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3" name="TextBox 2">
            <a:extLst>
              <a:ext uri="{FF2B5EF4-FFF2-40B4-BE49-F238E27FC236}">
                <a16:creationId xmlns:a16="http://schemas.microsoft.com/office/drawing/2014/main" id="{4FC8D8B2-D34C-BF7B-CEF0-C0134EE853EB}"/>
              </a:ext>
            </a:extLst>
          </p:cNvPr>
          <p:cNvSpPr txBox="1"/>
          <p:nvPr/>
        </p:nvSpPr>
        <p:spPr>
          <a:xfrm>
            <a:off x="214313" y="136525"/>
            <a:ext cx="6186487" cy="477054"/>
          </a:xfrm>
          <a:prstGeom prst="rect">
            <a:avLst/>
          </a:prstGeom>
          <a:noFill/>
        </p:spPr>
        <p:txBody>
          <a:bodyPr wrap="square" rtlCol="0">
            <a:spAutoFit/>
          </a:bodyPr>
          <a:lstStyle/>
          <a:p>
            <a:r>
              <a:rPr lang="en-IN" sz="2500" dirty="0"/>
              <a:t>Various Declaration techniques in Jscript</a:t>
            </a:r>
          </a:p>
        </p:txBody>
      </p:sp>
      <p:sp>
        <p:nvSpPr>
          <p:cNvPr id="4" name="TextBox 3">
            <a:extLst>
              <a:ext uri="{FF2B5EF4-FFF2-40B4-BE49-F238E27FC236}">
                <a16:creationId xmlns:a16="http://schemas.microsoft.com/office/drawing/2014/main" id="{BA3EF7E7-3AB3-BD68-CEFC-FE7B17743A3B}"/>
              </a:ext>
            </a:extLst>
          </p:cNvPr>
          <p:cNvSpPr txBox="1"/>
          <p:nvPr/>
        </p:nvSpPr>
        <p:spPr>
          <a:xfrm>
            <a:off x="571499" y="975062"/>
            <a:ext cx="7972425" cy="5940088"/>
          </a:xfrm>
          <a:prstGeom prst="rect">
            <a:avLst/>
          </a:prstGeom>
          <a:noFill/>
        </p:spPr>
        <p:txBody>
          <a:bodyPr wrap="square" rtlCol="0">
            <a:spAutoFit/>
          </a:bodyPr>
          <a:lstStyle/>
          <a:p>
            <a:r>
              <a:rPr lang="en-IN" sz="2000" b="1" dirty="0"/>
              <a:t>1. Function Declaration with Parameters</a:t>
            </a:r>
          </a:p>
          <a:p>
            <a:endParaRPr lang="en-IN" sz="2000" dirty="0"/>
          </a:p>
          <a:p>
            <a:r>
              <a:rPr lang="en-IN" sz="2000" dirty="0"/>
              <a:t>&lt;!DOCTYPE html&gt;</a:t>
            </a:r>
          </a:p>
          <a:p>
            <a:r>
              <a:rPr lang="en-IN" sz="2000" dirty="0"/>
              <a:t>&lt;html&gt;</a:t>
            </a:r>
          </a:p>
          <a:p>
            <a:r>
              <a:rPr lang="en-IN" sz="2000" dirty="0"/>
              <a:t>&lt;body&gt;</a:t>
            </a:r>
          </a:p>
          <a:p>
            <a:endParaRPr lang="en-IN" sz="2000" dirty="0"/>
          </a:p>
          <a:p>
            <a:r>
              <a:rPr lang="en-IN" sz="2000" dirty="0"/>
              <a:t>&lt;h2&gt;Function Declaration Example&lt;/h2&gt;</a:t>
            </a:r>
          </a:p>
          <a:p>
            <a:endParaRPr lang="en-IN" sz="2000" dirty="0"/>
          </a:p>
          <a:p>
            <a:r>
              <a:rPr lang="en-IN" sz="2000" dirty="0"/>
              <a:t>&lt;script&gt;</a:t>
            </a:r>
          </a:p>
          <a:p>
            <a:r>
              <a:rPr lang="en-IN" sz="2000" dirty="0"/>
              <a:t>function greet() {</a:t>
            </a:r>
          </a:p>
          <a:p>
            <a:r>
              <a:rPr lang="en-IN" sz="2000" dirty="0"/>
              <a:t>  </a:t>
            </a:r>
            <a:r>
              <a:rPr lang="en-IN" sz="2000" dirty="0" err="1"/>
              <a:t>document.write</a:t>
            </a:r>
            <a:r>
              <a:rPr lang="en-IN" sz="2000" dirty="0"/>
              <a:t>("</a:t>
            </a:r>
            <a:r>
              <a:rPr lang="en-IN" sz="2000" dirty="0" err="1"/>
              <a:t>Hello!hello</a:t>
            </a:r>
            <a:r>
              <a:rPr lang="en-IN" sz="2000" dirty="0"/>
              <a:t>.");</a:t>
            </a:r>
          </a:p>
          <a:p>
            <a:r>
              <a:rPr lang="en-IN" sz="2000" dirty="0"/>
              <a:t>}</a:t>
            </a:r>
          </a:p>
          <a:p>
            <a:endParaRPr lang="en-IN" sz="2000" dirty="0"/>
          </a:p>
          <a:p>
            <a:r>
              <a:rPr lang="en-IN" sz="2000" dirty="0"/>
              <a:t>greet();   // function call</a:t>
            </a:r>
          </a:p>
          <a:p>
            <a:r>
              <a:rPr lang="en-IN" sz="2000" dirty="0"/>
              <a:t>&lt;/script&gt;</a:t>
            </a:r>
          </a:p>
          <a:p>
            <a:endParaRPr lang="en-IN" sz="2000" dirty="0"/>
          </a:p>
          <a:p>
            <a:r>
              <a:rPr lang="en-IN" sz="2000" dirty="0"/>
              <a:t>&lt;/body&gt;</a:t>
            </a:r>
          </a:p>
          <a:p>
            <a:r>
              <a:rPr lang="en-IN" sz="2000" dirty="0"/>
              <a:t>&lt;/html&gt;</a:t>
            </a:r>
          </a:p>
          <a:p>
            <a:endParaRPr lang="en-IN" sz="2000" dirty="0"/>
          </a:p>
        </p:txBody>
      </p:sp>
    </p:spTree>
    <p:extLst>
      <p:ext uri="{BB962C8B-B14F-4D97-AF65-F5344CB8AC3E}">
        <p14:creationId xmlns:p14="http://schemas.microsoft.com/office/powerpoint/2010/main" val="502178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8BD74-EE76-BF04-F2F5-70BB208639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0196D4-DEAF-DC67-321C-18D59A4FB7F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3" name="TextBox 2">
            <a:extLst>
              <a:ext uri="{FF2B5EF4-FFF2-40B4-BE49-F238E27FC236}">
                <a16:creationId xmlns:a16="http://schemas.microsoft.com/office/drawing/2014/main" id="{794F5E1C-D91C-9C01-3818-8E95B1BAC708}"/>
              </a:ext>
            </a:extLst>
          </p:cNvPr>
          <p:cNvSpPr txBox="1"/>
          <p:nvPr/>
        </p:nvSpPr>
        <p:spPr>
          <a:xfrm>
            <a:off x="214313" y="136525"/>
            <a:ext cx="6186487" cy="477054"/>
          </a:xfrm>
          <a:prstGeom prst="rect">
            <a:avLst/>
          </a:prstGeom>
          <a:noFill/>
        </p:spPr>
        <p:txBody>
          <a:bodyPr wrap="square" rtlCol="0">
            <a:spAutoFit/>
          </a:bodyPr>
          <a:lstStyle/>
          <a:p>
            <a:r>
              <a:rPr lang="en-IN" sz="2500" dirty="0"/>
              <a:t>Various Declaration techniques in Jscript</a:t>
            </a:r>
          </a:p>
        </p:txBody>
      </p:sp>
      <p:sp>
        <p:nvSpPr>
          <p:cNvPr id="4" name="TextBox 3">
            <a:extLst>
              <a:ext uri="{FF2B5EF4-FFF2-40B4-BE49-F238E27FC236}">
                <a16:creationId xmlns:a16="http://schemas.microsoft.com/office/drawing/2014/main" id="{06447B4E-FE16-C0AB-4475-0684A48B7246}"/>
              </a:ext>
            </a:extLst>
          </p:cNvPr>
          <p:cNvSpPr txBox="1"/>
          <p:nvPr/>
        </p:nvSpPr>
        <p:spPr>
          <a:xfrm>
            <a:off x="571499" y="975062"/>
            <a:ext cx="7972425" cy="5324535"/>
          </a:xfrm>
          <a:prstGeom prst="rect">
            <a:avLst/>
          </a:prstGeom>
          <a:noFill/>
        </p:spPr>
        <p:txBody>
          <a:bodyPr wrap="square" rtlCol="0">
            <a:spAutoFit/>
          </a:bodyPr>
          <a:lstStyle/>
          <a:p>
            <a:r>
              <a:rPr lang="en-IN" sz="2000" b="1" dirty="0"/>
              <a:t>2. Variable Declaration</a:t>
            </a:r>
          </a:p>
          <a:p>
            <a:endParaRPr lang="en-IN" sz="2000" dirty="0"/>
          </a:p>
          <a:p>
            <a:r>
              <a:rPr lang="en-IN" sz="2000" dirty="0"/>
              <a:t>A variable within a function can be declared in the following ways:</a:t>
            </a:r>
          </a:p>
          <a:p>
            <a:endParaRPr lang="en-IN" sz="2000" dirty="0"/>
          </a:p>
          <a:p>
            <a:pPr marL="457200" indent="-457200">
              <a:buAutoNum type="alphaLcPeriod"/>
            </a:pPr>
            <a:r>
              <a:rPr lang="en-IN" sz="2000" dirty="0"/>
              <a:t>Var</a:t>
            </a:r>
          </a:p>
          <a:p>
            <a:pPr marL="457200" indent="-457200">
              <a:buAutoNum type="alphaLcPeriod"/>
            </a:pPr>
            <a:r>
              <a:rPr lang="en-IN" sz="2000" dirty="0"/>
              <a:t>Let</a:t>
            </a:r>
          </a:p>
          <a:p>
            <a:pPr marL="457200" indent="-457200">
              <a:buAutoNum type="alphaLcPeriod"/>
            </a:pPr>
            <a:endParaRPr lang="en-IN" sz="2000" dirty="0"/>
          </a:p>
          <a:p>
            <a:pPr marL="457200" indent="-457200">
              <a:buAutoNum type="alphaLcPeriod"/>
            </a:pPr>
            <a:endParaRPr lang="en-IN" sz="2000" dirty="0"/>
          </a:p>
          <a:p>
            <a:r>
              <a:rPr lang="en-IN" sz="2000" dirty="0"/>
              <a:t>Eg:</a:t>
            </a:r>
          </a:p>
          <a:p>
            <a:r>
              <a:rPr lang="en-IN" sz="2000" dirty="0"/>
              <a:t>Var a =20;</a:t>
            </a:r>
          </a:p>
          <a:p>
            <a:r>
              <a:rPr lang="en-IN" sz="2000" dirty="0"/>
              <a:t>Var a =30; // re-declaring via var variable is allowed</a:t>
            </a:r>
          </a:p>
          <a:p>
            <a:endParaRPr lang="en-IN" sz="2000" dirty="0"/>
          </a:p>
          <a:p>
            <a:r>
              <a:rPr lang="en-IN" sz="2000" dirty="0"/>
              <a:t>Let a = 10;</a:t>
            </a:r>
          </a:p>
          <a:p>
            <a:r>
              <a:rPr lang="en-IN" sz="2000" dirty="0"/>
              <a:t>Let a = 20;   // </a:t>
            </a:r>
            <a:r>
              <a:rPr lang="en-GB" sz="2000" dirty="0"/>
              <a:t>Cannot be redeclared in same scope</a:t>
            </a:r>
          </a:p>
          <a:p>
            <a:endParaRPr lang="en-GB" sz="2000" dirty="0"/>
          </a:p>
          <a:p>
            <a:r>
              <a:rPr lang="en-GB" sz="2000" dirty="0" err="1"/>
              <a:t>Const</a:t>
            </a:r>
            <a:r>
              <a:rPr lang="en-GB" sz="2000" dirty="0"/>
              <a:t> a = 3.15;</a:t>
            </a:r>
          </a:p>
          <a:p>
            <a:r>
              <a:rPr lang="en-GB" sz="2000" dirty="0" err="1"/>
              <a:t>Const</a:t>
            </a:r>
            <a:r>
              <a:rPr lang="en-GB" sz="2000" dirty="0"/>
              <a:t> a = 14.5; // can’t be re-declared</a:t>
            </a:r>
            <a:endParaRPr lang="en-IN" sz="2000" dirty="0"/>
          </a:p>
        </p:txBody>
      </p:sp>
    </p:spTree>
    <p:extLst>
      <p:ext uri="{BB962C8B-B14F-4D97-AF65-F5344CB8AC3E}">
        <p14:creationId xmlns:p14="http://schemas.microsoft.com/office/powerpoint/2010/main" val="3103090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8D793-623A-8083-0BBD-C23216D40F8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3B61E-30EF-FAFC-F3D2-2606EC6CD3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TextBox 2">
            <a:extLst>
              <a:ext uri="{FF2B5EF4-FFF2-40B4-BE49-F238E27FC236}">
                <a16:creationId xmlns:a16="http://schemas.microsoft.com/office/drawing/2014/main" id="{7E0C6BF7-8F06-F011-389E-4FDA082FD560}"/>
              </a:ext>
            </a:extLst>
          </p:cNvPr>
          <p:cNvSpPr txBox="1"/>
          <p:nvPr/>
        </p:nvSpPr>
        <p:spPr>
          <a:xfrm>
            <a:off x="214313" y="136525"/>
            <a:ext cx="6186487" cy="477054"/>
          </a:xfrm>
          <a:prstGeom prst="rect">
            <a:avLst/>
          </a:prstGeom>
          <a:noFill/>
        </p:spPr>
        <p:txBody>
          <a:bodyPr wrap="square" rtlCol="0">
            <a:spAutoFit/>
          </a:bodyPr>
          <a:lstStyle/>
          <a:p>
            <a:r>
              <a:rPr lang="en-IN" sz="2500" dirty="0"/>
              <a:t>Various Declaration techniques in Jscript</a:t>
            </a:r>
          </a:p>
        </p:txBody>
      </p:sp>
      <p:sp>
        <p:nvSpPr>
          <p:cNvPr id="4" name="TextBox 3">
            <a:extLst>
              <a:ext uri="{FF2B5EF4-FFF2-40B4-BE49-F238E27FC236}">
                <a16:creationId xmlns:a16="http://schemas.microsoft.com/office/drawing/2014/main" id="{1686C137-3645-48AB-0FF2-3A6C158D24F8}"/>
              </a:ext>
            </a:extLst>
          </p:cNvPr>
          <p:cNvSpPr txBox="1"/>
          <p:nvPr/>
        </p:nvSpPr>
        <p:spPr>
          <a:xfrm>
            <a:off x="571499" y="975062"/>
            <a:ext cx="7972425" cy="5863144"/>
          </a:xfrm>
          <a:prstGeom prst="rect">
            <a:avLst/>
          </a:prstGeom>
          <a:noFill/>
        </p:spPr>
        <p:txBody>
          <a:bodyPr wrap="square" rtlCol="0">
            <a:spAutoFit/>
          </a:bodyPr>
          <a:lstStyle/>
          <a:p>
            <a:r>
              <a:rPr lang="en-IN" sz="2000" b="1" dirty="0"/>
              <a:t>3. Function Declaration</a:t>
            </a:r>
            <a:endParaRPr lang="en-IN" sz="2000" dirty="0"/>
          </a:p>
          <a:p>
            <a:pPr algn="ctr"/>
            <a:r>
              <a:rPr lang="en-IN" sz="1500" b="1" i="1" u="sng" dirty="0"/>
              <a:t>Syntax: </a:t>
            </a:r>
          </a:p>
          <a:p>
            <a:r>
              <a:rPr lang="en-IN" sz="1500" dirty="0"/>
              <a:t>{</a:t>
            </a:r>
          </a:p>
          <a:p>
            <a:r>
              <a:rPr lang="en-IN" sz="1500" dirty="0"/>
              <a:t>function greet() {</a:t>
            </a:r>
          </a:p>
          <a:p>
            <a:r>
              <a:rPr lang="en-IN" sz="1500" dirty="0"/>
              <a:t>  </a:t>
            </a:r>
            <a:r>
              <a:rPr lang="en-IN" sz="1500" dirty="0" err="1"/>
              <a:t>document.write</a:t>
            </a:r>
            <a:r>
              <a:rPr lang="en-IN" sz="1500" dirty="0"/>
              <a:t>("Hello!");</a:t>
            </a:r>
          </a:p>
          <a:p>
            <a:r>
              <a:rPr lang="en-IN" sz="1500" dirty="0"/>
              <a:t>}</a:t>
            </a:r>
          </a:p>
          <a:p>
            <a:r>
              <a:rPr lang="en-IN" sz="2000" dirty="0"/>
              <a:t>______________________________________________________</a:t>
            </a:r>
          </a:p>
          <a:p>
            <a:endParaRPr lang="en-IN" sz="1500" dirty="0"/>
          </a:p>
          <a:p>
            <a:r>
              <a:rPr lang="en-IN" sz="1500" dirty="0"/>
              <a:t>&lt;!DOCTYPE html&gt;</a:t>
            </a:r>
          </a:p>
          <a:p>
            <a:r>
              <a:rPr lang="en-IN" sz="1500" dirty="0"/>
              <a:t>&lt;html&gt;</a:t>
            </a:r>
          </a:p>
          <a:p>
            <a:r>
              <a:rPr lang="en-IN" sz="1500" dirty="0"/>
              <a:t>&lt;body&gt;</a:t>
            </a:r>
          </a:p>
          <a:p>
            <a:r>
              <a:rPr lang="en-IN" sz="1500" dirty="0"/>
              <a:t>&lt;h2&gt;Function Declaration Example&lt;/h2&gt;</a:t>
            </a:r>
          </a:p>
          <a:p>
            <a:r>
              <a:rPr lang="en-IN" sz="1500" dirty="0"/>
              <a:t>&lt;p id="demo"&gt;&lt;/p&gt;</a:t>
            </a:r>
          </a:p>
          <a:p>
            <a:r>
              <a:rPr lang="en-IN" sz="1500" dirty="0"/>
              <a:t>&lt;script&gt;</a:t>
            </a:r>
          </a:p>
          <a:p>
            <a:r>
              <a:rPr lang="en-IN" sz="1500" dirty="0"/>
              <a:t>function greet() {</a:t>
            </a:r>
          </a:p>
          <a:p>
            <a:r>
              <a:rPr lang="en-IN" sz="1500" dirty="0"/>
              <a:t>  </a:t>
            </a:r>
            <a:r>
              <a:rPr lang="en-IN" sz="1500" dirty="0" err="1"/>
              <a:t>document.getElementById</a:t>
            </a:r>
            <a:r>
              <a:rPr lang="en-IN" sz="1500" dirty="0"/>
              <a:t>("demo").</a:t>
            </a:r>
            <a:r>
              <a:rPr lang="en-IN" sz="1500" dirty="0" err="1"/>
              <a:t>innerHTML</a:t>
            </a:r>
            <a:r>
              <a:rPr lang="en-IN" sz="1500" dirty="0"/>
              <a:t> = "Hello, welcome to the example of function declaration.";</a:t>
            </a:r>
          </a:p>
          <a:p>
            <a:r>
              <a:rPr lang="en-IN" sz="1500" dirty="0"/>
              <a:t>}</a:t>
            </a:r>
          </a:p>
          <a:p>
            <a:r>
              <a:rPr lang="en-IN" sz="1500" dirty="0"/>
              <a:t>greet(); // function call</a:t>
            </a:r>
          </a:p>
          <a:p>
            <a:r>
              <a:rPr lang="en-IN" sz="1500" dirty="0"/>
              <a:t>&lt;/script&gt;</a:t>
            </a:r>
          </a:p>
          <a:p>
            <a:endParaRPr lang="en-IN" sz="1500" dirty="0"/>
          </a:p>
          <a:p>
            <a:r>
              <a:rPr lang="en-IN" sz="1500" dirty="0"/>
              <a:t>&lt;/body&gt;</a:t>
            </a:r>
          </a:p>
          <a:p>
            <a:r>
              <a:rPr lang="en-IN" sz="1500" dirty="0"/>
              <a:t>&lt;/html&gt;</a:t>
            </a:r>
          </a:p>
          <a:p>
            <a:endParaRPr lang="en-IN" sz="2000" dirty="0"/>
          </a:p>
        </p:txBody>
      </p:sp>
    </p:spTree>
    <p:extLst>
      <p:ext uri="{BB962C8B-B14F-4D97-AF65-F5344CB8AC3E}">
        <p14:creationId xmlns:p14="http://schemas.microsoft.com/office/powerpoint/2010/main" val="3977008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FCFBB-67BA-252A-F531-C3EA31D27CA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9BF73F-E5CD-B31F-0E09-B4BF8435B8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TextBox 2">
            <a:extLst>
              <a:ext uri="{FF2B5EF4-FFF2-40B4-BE49-F238E27FC236}">
                <a16:creationId xmlns:a16="http://schemas.microsoft.com/office/drawing/2014/main" id="{D2FFADC3-6C75-B0A1-475E-6492636412E0}"/>
              </a:ext>
            </a:extLst>
          </p:cNvPr>
          <p:cNvSpPr txBox="1"/>
          <p:nvPr/>
        </p:nvSpPr>
        <p:spPr>
          <a:xfrm>
            <a:off x="214313" y="136525"/>
            <a:ext cx="6186487" cy="477054"/>
          </a:xfrm>
          <a:prstGeom prst="rect">
            <a:avLst/>
          </a:prstGeom>
          <a:noFill/>
        </p:spPr>
        <p:txBody>
          <a:bodyPr wrap="square" rtlCol="0">
            <a:spAutoFit/>
          </a:bodyPr>
          <a:lstStyle/>
          <a:p>
            <a:r>
              <a:rPr lang="en-IN" sz="2500" dirty="0"/>
              <a:t>Various Declaration techniques in Jscript</a:t>
            </a:r>
          </a:p>
        </p:txBody>
      </p:sp>
      <p:sp>
        <p:nvSpPr>
          <p:cNvPr id="4" name="TextBox 3">
            <a:extLst>
              <a:ext uri="{FF2B5EF4-FFF2-40B4-BE49-F238E27FC236}">
                <a16:creationId xmlns:a16="http://schemas.microsoft.com/office/drawing/2014/main" id="{565571A8-D15F-3556-F15A-F4145C9375B8}"/>
              </a:ext>
            </a:extLst>
          </p:cNvPr>
          <p:cNvSpPr txBox="1"/>
          <p:nvPr/>
        </p:nvSpPr>
        <p:spPr>
          <a:xfrm>
            <a:off x="571499" y="975062"/>
            <a:ext cx="7972425" cy="5863144"/>
          </a:xfrm>
          <a:prstGeom prst="rect">
            <a:avLst/>
          </a:prstGeom>
          <a:noFill/>
        </p:spPr>
        <p:txBody>
          <a:bodyPr wrap="square" rtlCol="0">
            <a:spAutoFit/>
          </a:bodyPr>
          <a:lstStyle/>
          <a:p>
            <a:r>
              <a:rPr lang="en-IN" sz="2000" b="1" dirty="0"/>
              <a:t>4. Function Expression</a:t>
            </a:r>
          </a:p>
          <a:p>
            <a:pPr algn="ctr"/>
            <a:r>
              <a:rPr lang="en-IN" sz="1500" b="1" i="1" u="sng" dirty="0"/>
              <a:t>Syntax: </a:t>
            </a:r>
          </a:p>
          <a:p>
            <a:r>
              <a:rPr lang="en-IN" sz="1500" dirty="0"/>
              <a:t>let </a:t>
            </a:r>
            <a:r>
              <a:rPr lang="en-IN" sz="1500" dirty="0" err="1"/>
              <a:t>sayHi</a:t>
            </a:r>
            <a:r>
              <a:rPr lang="en-IN" sz="1500" dirty="0"/>
              <a:t> = function() </a:t>
            </a:r>
          </a:p>
          <a:p>
            <a:r>
              <a:rPr lang="en-IN" sz="1500" dirty="0"/>
              <a:t>{</a:t>
            </a:r>
          </a:p>
          <a:p>
            <a:r>
              <a:rPr lang="en-IN" sz="1500" dirty="0"/>
              <a:t>  </a:t>
            </a:r>
            <a:r>
              <a:rPr lang="en-IN" sz="1500" dirty="0" err="1"/>
              <a:t>document.write</a:t>
            </a:r>
            <a:r>
              <a:rPr lang="en-IN" sz="1500" dirty="0"/>
              <a:t>("Hi!");</a:t>
            </a:r>
          </a:p>
          <a:p>
            <a:r>
              <a:rPr lang="en-IN" sz="1500" dirty="0"/>
              <a:t>};</a:t>
            </a:r>
            <a:endParaRPr lang="en-IN" sz="2000" dirty="0"/>
          </a:p>
          <a:p>
            <a:r>
              <a:rPr lang="en-IN" sz="2000" dirty="0"/>
              <a:t>____________________________________________________</a:t>
            </a:r>
          </a:p>
          <a:p>
            <a:endParaRPr lang="en-IN" sz="1500" dirty="0"/>
          </a:p>
          <a:p>
            <a:r>
              <a:rPr lang="en-IN" sz="1500" dirty="0"/>
              <a:t>&lt;!DOCTYPE html&gt;</a:t>
            </a:r>
          </a:p>
          <a:p>
            <a:r>
              <a:rPr lang="en-IN" sz="1500" dirty="0"/>
              <a:t>&lt;html&gt;</a:t>
            </a:r>
          </a:p>
          <a:p>
            <a:r>
              <a:rPr lang="en-IN" sz="1500" dirty="0"/>
              <a:t>&lt;body&gt;</a:t>
            </a:r>
          </a:p>
          <a:p>
            <a:r>
              <a:rPr lang="en-IN" sz="1500" dirty="0"/>
              <a:t>&lt;h2&gt;Function Expression Example&lt;/h2&gt;</a:t>
            </a:r>
          </a:p>
          <a:p>
            <a:r>
              <a:rPr lang="en-IN" sz="1500" dirty="0"/>
              <a:t>&lt;p id="demo"&gt;&lt;/p&gt;</a:t>
            </a:r>
          </a:p>
          <a:p>
            <a:r>
              <a:rPr lang="en-IN" sz="1500" dirty="0"/>
              <a:t>&lt;script&gt;</a:t>
            </a:r>
          </a:p>
          <a:p>
            <a:r>
              <a:rPr lang="en-IN" sz="1500" dirty="0"/>
              <a:t>let greet = function() {</a:t>
            </a:r>
          </a:p>
          <a:p>
            <a:r>
              <a:rPr lang="en-IN" sz="1500" dirty="0"/>
              <a:t>  </a:t>
            </a:r>
            <a:r>
              <a:rPr lang="en-IN" sz="1500" dirty="0" err="1"/>
              <a:t>document.getElementById</a:t>
            </a:r>
            <a:r>
              <a:rPr lang="en-IN" sz="1500" dirty="0"/>
              <a:t>("demo").</a:t>
            </a:r>
            <a:r>
              <a:rPr lang="en-IN" sz="1500" dirty="0" err="1"/>
              <a:t>innerHTML</a:t>
            </a:r>
            <a:r>
              <a:rPr lang="en-IN" sz="1500" dirty="0"/>
              <a:t> = "Hello, presenting you a generic Function Expression! Pls note there </a:t>
            </a:r>
            <a:r>
              <a:rPr lang="en-IN" sz="1500" dirty="0" err="1"/>
              <a:t>there</a:t>
            </a:r>
            <a:r>
              <a:rPr lang="en-IN" sz="1500" dirty="0"/>
              <a:t> is a semi-colon at the end of the function closure curly bracket.";</a:t>
            </a:r>
          </a:p>
          <a:p>
            <a:r>
              <a:rPr lang="en-IN" sz="1500" dirty="0"/>
              <a:t>};</a:t>
            </a:r>
          </a:p>
          <a:p>
            <a:r>
              <a:rPr lang="en-IN" sz="1500" dirty="0"/>
              <a:t>greet(); // function call</a:t>
            </a:r>
          </a:p>
          <a:p>
            <a:r>
              <a:rPr lang="en-IN" sz="1500" dirty="0"/>
              <a:t>&lt;/script&gt;</a:t>
            </a:r>
          </a:p>
          <a:p>
            <a:r>
              <a:rPr lang="en-IN" sz="1500" dirty="0"/>
              <a:t>&lt;/body&gt;</a:t>
            </a:r>
          </a:p>
          <a:p>
            <a:r>
              <a:rPr lang="en-IN" sz="1500" dirty="0"/>
              <a:t>&lt;/html&gt;</a:t>
            </a:r>
          </a:p>
          <a:p>
            <a:endParaRPr lang="en-IN" sz="2000" dirty="0"/>
          </a:p>
        </p:txBody>
      </p:sp>
    </p:spTree>
    <p:extLst>
      <p:ext uri="{BB962C8B-B14F-4D97-AF65-F5344CB8AC3E}">
        <p14:creationId xmlns:p14="http://schemas.microsoft.com/office/powerpoint/2010/main" val="2176837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74410-4B96-282F-539B-812EA9B462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341F5D-1D10-201A-42B2-DF99D83834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3" name="TextBox 2">
            <a:extLst>
              <a:ext uri="{FF2B5EF4-FFF2-40B4-BE49-F238E27FC236}">
                <a16:creationId xmlns:a16="http://schemas.microsoft.com/office/drawing/2014/main" id="{8793AE98-CD4A-97CB-B262-456877F550FB}"/>
              </a:ext>
            </a:extLst>
          </p:cNvPr>
          <p:cNvSpPr txBox="1"/>
          <p:nvPr/>
        </p:nvSpPr>
        <p:spPr>
          <a:xfrm>
            <a:off x="214313" y="136525"/>
            <a:ext cx="6186487" cy="477054"/>
          </a:xfrm>
          <a:prstGeom prst="rect">
            <a:avLst/>
          </a:prstGeom>
          <a:noFill/>
        </p:spPr>
        <p:txBody>
          <a:bodyPr wrap="square" rtlCol="0">
            <a:spAutoFit/>
          </a:bodyPr>
          <a:lstStyle/>
          <a:p>
            <a:r>
              <a:rPr lang="en-IN" sz="2500" dirty="0"/>
              <a:t>Various Declaration techniques in Jscript</a:t>
            </a:r>
          </a:p>
        </p:txBody>
      </p:sp>
      <p:sp>
        <p:nvSpPr>
          <p:cNvPr id="4" name="TextBox 3">
            <a:extLst>
              <a:ext uri="{FF2B5EF4-FFF2-40B4-BE49-F238E27FC236}">
                <a16:creationId xmlns:a16="http://schemas.microsoft.com/office/drawing/2014/main" id="{95B85C09-E59E-1CD3-8287-5AE88EA4AF1B}"/>
              </a:ext>
            </a:extLst>
          </p:cNvPr>
          <p:cNvSpPr txBox="1"/>
          <p:nvPr/>
        </p:nvSpPr>
        <p:spPr>
          <a:xfrm>
            <a:off x="585787" y="954871"/>
            <a:ext cx="7972425" cy="5401479"/>
          </a:xfrm>
          <a:prstGeom prst="rect">
            <a:avLst/>
          </a:prstGeom>
          <a:noFill/>
        </p:spPr>
        <p:txBody>
          <a:bodyPr wrap="square" rtlCol="0">
            <a:spAutoFit/>
          </a:bodyPr>
          <a:lstStyle/>
          <a:p>
            <a:r>
              <a:rPr lang="en-IN" sz="2000" b="1" dirty="0"/>
              <a:t>5. Function declaration using Arrow (ES6)</a:t>
            </a:r>
          </a:p>
          <a:p>
            <a:pPr algn="ctr"/>
            <a:endParaRPr lang="en-IN" sz="1500" b="1" i="1" u="sng" dirty="0"/>
          </a:p>
          <a:p>
            <a:pPr algn="ctr"/>
            <a:r>
              <a:rPr lang="en-IN" sz="1500" b="1" i="1" u="sng" dirty="0"/>
              <a:t>Syntax: </a:t>
            </a:r>
          </a:p>
          <a:p>
            <a:r>
              <a:rPr lang="en-GB" sz="1500" dirty="0" err="1"/>
              <a:t>const</a:t>
            </a:r>
            <a:r>
              <a:rPr lang="en-GB" sz="1500" dirty="0"/>
              <a:t> add = (a, b) =&gt; </a:t>
            </a:r>
            <a:r>
              <a:rPr lang="en-GB" sz="1500" dirty="0" err="1"/>
              <a:t>a+b</a:t>
            </a:r>
            <a:r>
              <a:rPr lang="en-GB" sz="1500" dirty="0"/>
              <a:t>;</a:t>
            </a:r>
          </a:p>
          <a:p>
            <a:r>
              <a:rPr lang="en-IN" sz="2000" dirty="0"/>
              <a:t>____________________________________________________</a:t>
            </a:r>
          </a:p>
          <a:p>
            <a:endParaRPr lang="en-IN" sz="1500" dirty="0"/>
          </a:p>
          <a:p>
            <a:r>
              <a:rPr lang="en-GB" sz="1500" dirty="0"/>
              <a:t>&lt;!DOCTYPE html&gt;</a:t>
            </a:r>
          </a:p>
          <a:p>
            <a:r>
              <a:rPr lang="en-GB" sz="1500" dirty="0"/>
              <a:t>&lt;html&gt;</a:t>
            </a:r>
          </a:p>
          <a:p>
            <a:r>
              <a:rPr lang="en-GB" sz="1500" dirty="0"/>
              <a:t>&lt;body&gt;</a:t>
            </a:r>
          </a:p>
          <a:p>
            <a:endParaRPr lang="en-GB" sz="1500" dirty="0"/>
          </a:p>
          <a:p>
            <a:r>
              <a:rPr lang="en-GB" sz="1500" dirty="0"/>
              <a:t>&lt;button onclick="show()"&gt;Click Me&lt;/button&gt;</a:t>
            </a:r>
          </a:p>
          <a:p>
            <a:endParaRPr lang="en-GB" sz="1500" dirty="0"/>
          </a:p>
          <a:p>
            <a:r>
              <a:rPr lang="en-GB" sz="1500" dirty="0"/>
              <a:t>&lt;script&gt;</a:t>
            </a:r>
          </a:p>
          <a:p>
            <a:r>
              <a:rPr lang="en-GB" sz="1500" dirty="0"/>
              <a:t>  </a:t>
            </a:r>
            <a:r>
              <a:rPr lang="en-GB" sz="1500" dirty="0" err="1"/>
              <a:t>const</a:t>
            </a:r>
            <a:r>
              <a:rPr lang="en-GB" sz="1500" dirty="0"/>
              <a:t> show = () =&gt; </a:t>
            </a:r>
          </a:p>
          <a:p>
            <a:r>
              <a:rPr lang="en-GB" sz="1500" dirty="0"/>
              <a:t>{</a:t>
            </a:r>
          </a:p>
          <a:p>
            <a:r>
              <a:rPr lang="en-GB" sz="1500" dirty="0"/>
              <a:t>    alert("Arrow Function Clicked!");</a:t>
            </a:r>
          </a:p>
          <a:p>
            <a:r>
              <a:rPr lang="en-GB" sz="1500" dirty="0"/>
              <a:t>  };</a:t>
            </a:r>
          </a:p>
          <a:p>
            <a:r>
              <a:rPr lang="en-GB" sz="1500" dirty="0"/>
              <a:t>&lt;/script&gt;</a:t>
            </a:r>
          </a:p>
          <a:p>
            <a:endParaRPr lang="en-GB" sz="1500" dirty="0"/>
          </a:p>
          <a:p>
            <a:r>
              <a:rPr lang="en-GB" sz="1500" dirty="0"/>
              <a:t>&lt;/body&gt;</a:t>
            </a:r>
          </a:p>
          <a:p>
            <a:r>
              <a:rPr lang="en-GB" sz="1500" dirty="0"/>
              <a:t>&lt;/html&gt;</a:t>
            </a:r>
          </a:p>
          <a:p>
            <a:endParaRPr lang="en-IN" sz="2000" dirty="0"/>
          </a:p>
        </p:txBody>
      </p:sp>
    </p:spTree>
    <p:extLst>
      <p:ext uri="{BB962C8B-B14F-4D97-AF65-F5344CB8AC3E}">
        <p14:creationId xmlns:p14="http://schemas.microsoft.com/office/powerpoint/2010/main" val="126866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80804-4287-E4A5-FBF4-FA718267AE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29978E-B99A-9B58-AA4F-308BDEAD99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3" name="TextBox 2">
            <a:extLst>
              <a:ext uri="{FF2B5EF4-FFF2-40B4-BE49-F238E27FC236}">
                <a16:creationId xmlns:a16="http://schemas.microsoft.com/office/drawing/2014/main" id="{6B3FED1D-B27E-4A32-4380-65131E4CB923}"/>
              </a:ext>
            </a:extLst>
          </p:cNvPr>
          <p:cNvSpPr txBox="1"/>
          <p:nvPr/>
        </p:nvSpPr>
        <p:spPr>
          <a:xfrm>
            <a:off x="214313" y="136525"/>
            <a:ext cx="6186487" cy="477054"/>
          </a:xfrm>
          <a:prstGeom prst="rect">
            <a:avLst/>
          </a:prstGeom>
          <a:noFill/>
        </p:spPr>
        <p:txBody>
          <a:bodyPr wrap="square" rtlCol="0">
            <a:spAutoFit/>
          </a:bodyPr>
          <a:lstStyle/>
          <a:p>
            <a:r>
              <a:rPr lang="en-IN" sz="2500" dirty="0"/>
              <a:t>Various Declaration techniques in Jscript</a:t>
            </a:r>
          </a:p>
        </p:txBody>
      </p:sp>
      <p:sp>
        <p:nvSpPr>
          <p:cNvPr id="4" name="TextBox 3">
            <a:extLst>
              <a:ext uri="{FF2B5EF4-FFF2-40B4-BE49-F238E27FC236}">
                <a16:creationId xmlns:a16="http://schemas.microsoft.com/office/drawing/2014/main" id="{03194467-01C2-2B96-659E-CB2689CF7F39}"/>
              </a:ext>
            </a:extLst>
          </p:cNvPr>
          <p:cNvSpPr txBox="1"/>
          <p:nvPr/>
        </p:nvSpPr>
        <p:spPr>
          <a:xfrm>
            <a:off x="571499" y="975062"/>
            <a:ext cx="7972425" cy="2708434"/>
          </a:xfrm>
          <a:prstGeom prst="rect">
            <a:avLst/>
          </a:prstGeom>
          <a:noFill/>
        </p:spPr>
        <p:txBody>
          <a:bodyPr wrap="square" rtlCol="0">
            <a:spAutoFit/>
          </a:bodyPr>
          <a:lstStyle/>
          <a:p>
            <a:r>
              <a:rPr lang="en-IN" sz="2000" b="1" dirty="0"/>
              <a:t>6. Class declaration</a:t>
            </a:r>
          </a:p>
          <a:p>
            <a:pPr algn="ctr"/>
            <a:endParaRPr lang="en-IN" sz="1500" b="1" i="1" u="sng" dirty="0"/>
          </a:p>
          <a:p>
            <a:pPr algn="ctr"/>
            <a:r>
              <a:rPr lang="en-IN" sz="1500" b="1" i="1" u="sng" dirty="0"/>
              <a:t>Syntax: </a:t>
            </a:r>
          </a:p>
          <a:p>
            <a:r>
              <a:rPr lang="en-GB" sz="2000" dirty="0"/>
              <a:t>class Student { </a:t>
            </a:r>
          </a:p>
          <a:p>
            <a:r>
              <a:rPr lang="en-GB" sz="2000" dirty="0"/>
              <a:t>constructor(name) {    </a:t>
            </a:r>
          </a:p>
          <a:p>
            <a:r>
              <a:rPr lang="en-GB" sz="2000" dirty="0"/>
              <a:t>this.name = name;  }</a:t>
            </a:r>
          </a:p>
          <a:p>
            <a:r>
              <a:rPr lang="en-GB" sz="2000" dirty="0"/>
              <a:t>}</a:t>
            </a:r>
          </a:p>
          <a:p>
            <a:r>
              <a:rPr lang="en-GB" sz="2000" dirty="0"/>
              <a:t>&lt;/html&gt;</a:t>
            </a:r>
          </a:p>
          <a:p>
            <a:endParaRPr lang="en-IN" sz="2000" dirty="0"/>
          </a:p>
        </p:txBody>
      </p:sp>
    </p:spTree>
    <p:extLst>
      <p:ext uri="{BB962C8B-B14F-4D97-AF65-F5344CB8AC3E}">
        <p14:creationId xmlns:p14="http://schemas.microsoft.com/office/powerpoint/2010/main" val="3036191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C086A7-3AB6-6364-2E37-788B9E93A5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4" name="TextBox 3">
            <a:extLst>
              <a:ext uri="{FF2B5EF4-FFF2-40B4-BE49-F238E27FC236}">
                <a16:creationId xmlns:a16="http://schemas.microsoft.com/office/drawing/2014/main" id="{9050E762-B0BF-E5BD-9565-5248315A118E}"/>
              </a:ext>
            </a:extLst>
          </p:cNvPr>
          <p:cNvSpPr txBox="1"/>
          <p:nvPr/>
        </p:nvSpPr>
        <p:spPr>
          <a:xfrm>
            <a:off x="642937" y="1260723"/>
            <a:ext cx="7329487" cy="4924425"/>
          </a:xfrm>
          <a:prstGeom prst="rect">
            <a:avLst/>
          </a:prstGeom>
          <a:noFill/>
        </p:spPr>
        <p:txBody>
          <a:bodyPr wrap="square">
            <a:spAutoFit/>
          </a:bodyPr>
          <a:lstStyle/>
          <a:p>
            <a:r>
              <a:rPr lang="en-IN" sz="1500" dirty="0"/>
              <a:t>&lt;!DOCTYPE html&gt;</a:t>
            </a:r>
          </a:p>
          <a:p>
            <a:r>
              <a:rPr lang="en-IN" sz="1500" dirty="0"/>
              <a:t>&lt;html&gt;</a:t>
            </a:r>
          </a:p>
          <a:p>
            <a:r>
              <a:rPr lang="en-IN" sz="1500" dirty="0"/>
              <a:t>&lt;body&gt;</a:t>
            </a:r>
          </a:p>
          <a:p>
            <a:r>
              <a:rPr lang="en-IN" sz="1500" dirty="0"/>
              <a:t>&lt;h2&gt;Class Declaration Example&lt;/h2&gt;</a:t>
            </a:r>
          </a:p>
          <a:p>
            <a:r>
              <a:rPr lang="en-IN" sz="1500" dirty="0"/>
              <a:t>&lt;button onclick="show()"&gt;Click&lt;/button&gt;</a:t>
            </a:r>
          </a:p>
          <a:p>
            <a:r>
              <a:rPr lang="en-IN" sz="1500" dirty="0"/>
              <a:t>&lt;script&gt;</a:t>
            </a:r>
          </a:p>
          <a:p>
            <a:r>
              <a:rPr lang="en-IN" sz="1500" dirty="0"/>
              <a:t>  class Person {</a:t>
            </a:r>
          </a:p>
          <a:p>
            <a:r>
              <a:rPr lang="en-IN" sz="1500" dirty="0"/>
              <a:t>    constructor(name) {</a:t>
            </a:r>
          </a:p>
          <a:p>
            <a:r>
              <a:rPr lang="en-IN" sz="1500" dirty="0"/>
              <a:t>      this.name = name;</a:t>
            </a:r>
          </a:p>
          <a:p>
            <a:r>
              <a:rPr lang="en-IN" sz="1500" dirty="0"/>
              <a:t>    }</a:t>
            </a:r>
          </a:p>
          <a:p>
            <a:r>
              <a:rPr lang="en-IN" sz="1500" dirty="0"/>
              <a:t>    greet() {</a:t>
            </a:r>
          </a:p>
          <a:p>
            <a:r>
              <a:rPr lang="en-IN" sz="1500" dirty="0"/>
              <a:t>      alert("Hello " + this.name);</a:t>
            </a:r>
          </a:p>
          <a:p>
            <a:r>
              <a:rPr lang="en-IN" sz="1500" dirty="0"/>
              <a:t>    }</a:t>
            </a:r>
          </a:p>
          <a:p>
            <a:r>
              <a:rPr lang="en-IN" sz="1500" dirty="0"/>
              <a:t>  }</a:t>
            </a:r>
          </a:p>
          <a:p>
            <a:r>
              <a:rPr lang="en-IN" sz="1500" dirty="0"/>
              <a:t>  function show() {</a:t>
            </a:r>
          </a:p>
          <a:p>
            <a:r>
              <a:rPr lang="en-IN" sz="1500" dirty="0"/>
              <a:t>    let p1 = new Person("Student");</a:t>
            </a:r>
          </a:p>
          <a:p>
            <a:r>
              <a:rPr lang="en-IN" sz="1500" dirty="0"/>
              <a:t>    p1.greet();</a:t>
            </a:r>
          </a:p>
          <a:p>
            <a:r>
              <a:rPr lang="en-IN" sz="1500" dirty="0"/>
              <a:t>  }</a:t>
            </a:r>
          </a:p>
          <a:p>
            <a:r>
              <a:rPr lang="en-IN" sz="1500" dirty="0"/>
              <a:t>&lt;/script&gt;</a:t>
            </a:r>
          </a:p>
          <a:p>
            <a:r>
              <a:rPr lang="en-IN" sz="1500" dirty="0"/>
              <a:t>&lt;/body&gt;</a:t>
            </a:r>
          </a:p>
          <a:p>
            <a:r>
              <a:rPr lang="en-IN" sz="1500" dirty="0"/>
              <a:t>&lt;/html&gt;</a:t>
            </a:r>
          </a:p>
        </p:txBody>
      </p:sp>
    </p:spTree>
    <p:extLst>
      <p:ext uri="{BB962C8B-B14F-4D97-AF65-F5344CB8AC3E}">
        <p14:creationId xmlns:p14="http://schemas.microsoft.com/office/powerpoint/2010/main" val="2362202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sym typeface="+mn-ea"/>
              </a:rPr>
              <a:t>Understanding Functions</a:t>
            </a:r>
            <a:endParaRPr lang="en-US"/>
          </a:p>
        </p:txBody>
      </p:sp>
      <p:sp>
        <p:nvSpPr>
          <p:cNvPr id="3" name="Text Placeholder 2"/>
          <p:cNvSpPr>
            <a:spLocks noGrp="1"/>
          </p:cNvSpPr>
          <p:nvPr>
            <p:ph type="body" idx="1"/>
          </p:nvPr>
        </p:nvSpPr>
        <p:spPr/>
        <p:txBody>
          <a:bodyPr/>
          <a:lstStyle/>
          <a:p>
            <a:pPr marL="88900" indent="0">
              <a:buNone/>
            </a:pPr>
            <a:r>
              <a:rPr lang="en-US" altLang="en-US" dirty="0"/>
              <a:t>In functions, parameters are placeholders defined in the function, while arguments are the actual values you pass when calling the function</a:t>
            </a:r>
          </a:p>
          <a:p>
            <a:endParaRPr lang="en-US" altLang="en-US" dirty="0"/>
          </a:p>
          <a:p>
            <a:r>
              <a:rPr lang="en-US" altLang="en-US" dirty="0"/>
              <a:t>Example:</a:t>
            </a:r>
          </a:p>
          <a:p>
            <a:pPr marL="88900" indent="0">
              <a:buNone/>
            </a:pPr>
            <a:r>
              <a:rPr lang="en-US" altLang="en-US" dirty="0"/>
              <a:t>function greet(name) {   // 'name' is a parameter</a:t>
            </a:r>
          </a:p>
          <a:p>
            <a:pPr marL="88900" indent="0">
              <a:buNone/>
            </a:pPr>
            <a:r>
              <a:rPr lang="en-US" altLang="en-US" dirty="0"/>
              <a:t>  console.log("Hello " + name);</a:t>
            </a:r>
          </a:p>
          <a:p>
            <a:pPr marL="88900" indent="0">
              <a:buNone/>
            </a:pPr>
            <a:r>
              <a:rPr lang="en-US" altLang="en-US" dirty="0"/>
              <a:t>}</a:t>
            </a:r>
          </a:p>
          <a:p>
            <a:pPr marL="88900" indent="0">
              <a:buNone/>
            </a:pPr>
            <a:r>
              <a:rPr lang="en-US" altLang="en-US" dirty="0"/>
              <a:t>greet("Alice");  // "Alice" is the argument</a:t>
            </a:r>
          </a:p>
          <a:p>
            <a:pPr marL="88900" indent="0">
              <a:buNone/>
            </a:pPr>
            <a:endParaRPr lang="en-US" altLang="en-US" dirty="0"/>
          </a:p>
          <a:p>
            <a:pPr marL="88900" indent="0">
              <a:buNone/>
            </a:pPr>
            <a:r>
              <a:rPr lang="en-US" altLang="en-US" dirty="0"/>
              <a:t>Parameter → name (placeholder inside the function).</a:t>
            </a:r>
          </a:p>
          <a:p>
            <a:pPr marL="88900" indent="0">
              <a:buNone/>
            </a:pPr>
            <a:r>
              <a:rPr lang="en-US" altLang="en-US" dirty="0"/>
              <a:t>Argument → "Alice" (real value given at call time).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2FCBEB-B942-A8CE-96B6-B9A13F3FEF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4" name="TextBox 3">
            <a:extLst>
              <a:ext uri="{FF2B5EF4-FFF2-40B4-BE49-F238E27FC236}">
                <a16:creationId xmlns:a16="http://schemas.microsoft.com/office/drawing/2014/main" id="{46CB7607-C647-787D-E818-975E30645D8F}"/>
              </a:ext>
            </a:extLst>
          </p:cNvPr>
          <p:cNvSpPr txBox="1"/>
          <p:nvPr/>
        </p:nvSpPr>
        <p:spPr>
          <a:xfrm>
            <a:off x="1128713" y="862013"/>
            <a:ext cx="6786562" cy="5847755"/>
          </a:xfrm>
          <a:prstGeom prst="rect">
            <a:avLst/>
          </a:prstGeom>
          <a:noFill/>
        </p:spPr>
        <p:txBody>
          <a:bodyPr wrap="square">
            <a:spAutoFit/>
          </a:bodyPr>
          <a:lstStyle/>
          <a:p>
            <a:r>
              <a:rPr lang="en-IN" sz="1700" dirty="0"/>
              <a:t>&lt;!DOCTYPE html&gt;</a:t>
            </a:r>
          </a:p>
          <a:p>
            <a:r>
              <a:rPr lang="en-IN" sz="1700" dirty="0"/>
              <a:t>&lt;html&gt;</a:t>
            </a:r>
          </a:p>
          <a:p>
            <a:r>
              <a:rPr lang="en-IN" sz="1700" dirty="0"/>
              <a:t>&lt;head&gt;</a:t>
            </a:r>
          </a:p>
          <a:p>
            <a:r>
              <a:rPr lang="en-IN" sz="1700" dirty="0"/>
              <a:t>  &lt;title&gt;Parameters and Arguments Example&lt;/title&gt;</a:t>
            </a:r>
          </a:p>
          <a:p>
            <a:r>
              <a:rPr lang="en-IN" sz="1700" dirty="0"/>
              <a:t>&lt;/head&gt;</a:t>
            </a:r>
          </a:p>
          <a:p>
            <a:r>
              <a:rPr lang="en-IN" sz="1700" dirty="0"/>
              <a:t>&lt;body&gt;</a:t>
            </a:r>
          </a:p>
          <a:p>
            <a:r>
              <a:rPr lang="en-IN" sz="1700" dirty="0"/>
              <a:t>&lt;h2&gt;JavaScript Function: Parameters and Arguments&lt;/h2&gt;</a:t>
            </a:r>
          </a:p>
          <a:p>
            <a:r>
              <a:rPr lang="en-IN" sz="1700" dirty="0"/>
              <a:t>&lt;button onclick="</a:t>
            </a:r>
            <a:r>
              <a:rPr lang="en-IN" sz="1700" dirty="0" err="1"/>
              <a:t>callGreet</a:t>
            </a:r>
            <a:r>
              <a:rPr lang="en-IN" sz="1700" dirty="0"/>
              <a:t>()"&gt;Click to Greet&lt;/button&gt;</a:t>
            </a:r>
          </a:p>
          <a:p>
            <a:r>
              <a:rPr lang="en-IN" sz="1700" dirty="0"/>
              <a:t>&lt;script&gt;</a:t>
            </a:r>
          </a:p>
          <a:p>
            <a:r>
              <a:rPr lang="en-IN" sz="1700" dirty="0"/>
              <a:t>  // Function definition</a:t>
            </a:r>
          </a:p>
          <a:p>
            <a:r>
              <a:rPr lang="en-IN" sz="1700" dirty="0"/>
              <a:t>  function greet(name) {        // name → parameter</a:t>
            </a:r>
          </a:p>
          <a:p>
            <a:r>
              <a:rPr lang="en-IN" sz="1700" dirty="0"/>
              <a:t>    console.log("Hello " + name);</a:t>
            </a:r>
          </a:p>
          <a:p>
            <a:r>
              <a:rPr lang="en-IN" sz="1700" dirty="0"/>
              <a:t>    </a:t>
            </a:r>
            <a:r>
              <a:rPr lang="en-IN" sz="1700" dirty="0" err="1"/>
              <a:t>document.write</a:t>
            </a:r>
            <a:r>
              <a:rPr lang="en-IN" sz="1700" dirty="0"/>
              <a:t>("Hello " + name + "&lt;</a:t>
            </a:r>
            <a:r>
              <a:rPr lang="en-IN" sz="1700" dirty="0" err="1"/>
              <a:t>br</a:t>
            </a:r>
            <a:r>
              <a:rPr lang="en-IN" sz="1700" dirty="0"/>
              <a:t>&gt;");</a:t>
            </a:r>
          </a:p>
          <a:p>
            <a:r>
              <a:rPr lang="en-IN" sz="1700" dirty="0"/>
              <a:t>  }</a:t>
            </a:r>
          </a:p>
          <a:p>
            <a:r>
              <a:rPr lang="en-IN" sz="1700" dirty="0"/>
              <a:t>  // Function call</a:t>
            </a:r>
          </a:p>
          <a:p>
            <a:r>
              <a:rPr lang="en-IN" sz="1700" dirty="0"/>
              <a:t>  function </a:t>
            </a:r>
            <a:r>
              <a:rPr lang="en-IN" sz="1700" dirty="0" err="1"/>
              <a:t>callGreet</a:t>
            </a:r>
            <a:r>
              <a:rPr lang="en-IN" sz="1700" dirty="0"/>
              <a:t>() {</a:t>
            </a:r>
          </a:p>
          <a:p>
            <a:r>
              <a:rPr lang="en-IN" sz="1700" dirty="0"/>
              <a:t>    greet("Alice");             // "Alice" → argument</a:t>
            </a:r>
          </a:p>
          <a:p>
            <a:r>
              <a:rPr lang="en-IN" sz="1700" dirty="0"/>
              <a:t>    greet("Abhishek");          // another argument</a:t>
            </a:r>
          </a:p>
          <a:p>
            <a:r>
              <a:rPr lang="en-IN" sz="1700" dirty="0"/>
              <a:t>  }</a:t>
            </a:r>
          </a:p>
          <a:p>
            <a:r>
              <a:rPr lang="en-IN" sz="1700" dirty="0"/>
              <a:t>&lt;/script&gt;</a:t>
            </a:r>
          </a:p>
          <a:p>
            <a:r>
              <a:rPr lang="en-IN" sz="1700" dirty="0"/>
              <a:t>&lt;/body&gt;</a:t>
            </a:r>
          </a:p>
          <a:p>
            <a:r>
              <a:rPr lang="en-IN" sz="1700" dirty="0"/>
              <a:t>&lt;/html&gt;</a:t>
            </a:r>
          </a:p>
        </p:txBody>
      </p:sp>
    </p:spTree>
    <p:extLst>
      <p:ext uri="{BB962C8B-B14F-4D97-AF65-F5344CB8AC3E}">
        <p14:creationId xmlns:p14="http://schemas.microsoft.com/office/powerpoint/2010/main" val="584831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3" name="TextBox 2"/>
          <p:cNvSpPr txBox="1"/>
          <p:nvPr/>
        </p:nvSpPr>
        <p:spPr>
          <a:xfrm>
            <a:off x="538480" y="152400"/>
            <a:ext cx="5737860" cy="583565"/>
          </a:xfrm>
          <a:prstGeom prst="rect">
            <a:avLst/>
          </a:prstGeom>
          <a:noFill/>
        </p:spPr>
        <p:txBody>
          <a:bodyPr wrap="none" rtlCol="0">
            <a:spAutoFit/>
          </a:bodyPr>
          <a:lstStyle/>
          <a:p>
            <a:pPr algn="l" fontAlgn="base"/>
            <a:r>
              <a:rPr lang="en-US" sz="3200" b="1" i="0" dirty="0">
                <a:solidFill>
                  <a:srgbClr val="273239"/>
                </a:solidFill>
                <a:effectLst/>
                <a:latin typeface="Times New Roman" panose="02020603050405020304" pitchFamily="18" charset="0"/>
                <a:cs typeface="Times New Roman" panose="02020603050405020304" pitchFamily="18" charset="0"/>
              </a:rPr>
              <a:t>JavaScript Function Expression</a:t>
            </a:r>
          </a:p>
        </p:txBody>
      </p:sp>
      <p:sp>
        <p:nvSpPr>
          <p:cNvPr id="6" name="TextBox 5"/>
          <p:cNvSpPr txBox="1"/>
          <p:nvPr/>
        </p:nvSpPr>
        <p:spPr>
          <a:xfrm>
            <a:off x="259080" y="968404"/>
            <a:ext cx="8803640" cy="400110"/>
          </a:xfrm>
          <a:prstGeom prst="rect">
            <a:avLst/>
          </a:prstGeom>
          <a:noFill/>
        </p:spPr>
        <p:txBody>
          <a:bodyPr wrap="square">
            <a:spAutoFit/>
          </a:bodyPr>
          <a:lstStyle/>
          <a:p>
            <a:pPr algn="just">
              <a:buFont typeface="Arial" panose="020B0604020202020204" pitchFamily="34" charset="0"/>
              <a:buChar char="•"/>
            </a:pPr>
            <a:endParaRPr lang="en-US" sz="20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5" name="TextBox 4"/>
          <p:cNvSpPr txBox="1"/>
          <p:nvPr/>
        </p:nvSpPr>
        <p:spPr>
          <a:xfrm>
            <a:off x="259080" y="1168459"/>
            <a:ext cx="8625840" cy="5169535"/>
          </a:xfrm>
          <a:prstGeom prst="rect">
            <a:avLst/>
          </a:prstGeom>
          <a:noFill/>
        </p:spPr>
        <p:txBody>
          <a:bodyPr wrap="square">
            <a:spAutoFit/>
          </a:bodyPr>
          <a:lstStyle/>
          <a:p>
            <a:pPr algn="just" fontAlgn="base">
              <a:lnSpc>
                <a:spcPct val="150000"/>
              </a:lnSpc>
            </a:pP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The </a:t>
            </a:r>
            <a:r>
              <a:rPr lang="en-US" sz="2200" b="0" i="0" dirty="0" err="1">
                <a:solidFill>
                  <a:srgbClr val="273239"/>
                </a:solidFill>
                <a:effectLst/>
                <a:highlight>
                  <a:srgbClr val="FFFFFF"/>
                </a:highlight>
                <a:latin typeface="Times New Roman" panose="02020603050405020304" pitchFamily="18" charset="0"/>
                <a:cs typeface="Times New Roman" panose="02020603050405020304" pitchFamily="18" charset="0"/>
              </a:rPr>
              <a:t>Javascript</a:t>
            </a: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 </a:t>
            </a:r>
            <a:r>
              <a:rPr lang="en-US" sz="2200" b="1" i="0" dirty="0">
                <a:solidFill>
                  <a:srgbClr val="273239"/>
                </a:solidFill>
                <a:effectLst/>
                <a:highlight>
                  <a:srgbClr val="FFFFFF"/>
                </a:highlight>
                <a:latin typeface="Times New Roman" panose="02020603050405020304" pitchFamily="18" charset="0"/>
                <a:cs typeface="Times New Roman" panose="02020603050405020304" pitchFamily="18" charset="0"/>
              </a:rPr>
              <a:t>Function Expression </a:t>
            </a: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is used to define a function inside any expression. The Function Expression</a:t>
            </a:r>
            <a:r>
              <a:rPr lang="en-US" sz="2200" b="1" i="0" dirty="0">
                <a:solidFill>
                  <a:srgbClr val="273239"/>
                </a:solidFill>
                <a:effectLst/>
                <a:highlight>
                  <a:srgbClr val="FFFFFF"/>
                </a:highlight>
                <a:latin typeface="Times New Roman" panose="02020603050405020304" pitchFamily="18" charset="0"/>
                <a:cs typeface="Times New Roman" panose="02020603050405020304" pitchFamily="18" charset="0"/>
              </a:rPr>
              <a:t> </a:t>
            </a: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allows us to create an anonymous function that doesn’t have any function name which is the main difference between Function Expression and Function Declaration. </a:t>
            </a:r>
          </a:p>
          <a:p>
            <a:pPr algn="just" fontAlgn="base">
              <a:lnSpc>
                <a:spcPct val="150000"/>
              </a:lnSpc>
            </a:pPr>
            <a:endParaRPr lang="en-US" sz="2200" dirty="0">
              <a:solidFill>
                <a:srgbClr val="273239"/>
              </a:solidFill>
              <a:highlight>
                <a:srgbClr val="FFFFFF"/>
              </a:highlight>
              <a:latin typeface="Times New Roman" panose="02020603050405020304" pitchFamily="18" charset="0"/>
              <a:cs typeface="Times New Roman" panose="02020603050405020304" pitchFamily="18" charset="0"/>
            </a:endParaRPr>
          </a:p>
          <a:p>
            <a:pPr algn="just" fontAlgn="base">
              <a:lnSpc>
                <a:spcPct val="150000"/>
              </a:lnSpc>
            </a:pP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A function expression can be used as an IIFE (Immediately Invoked Function Expression)which runs as soon as it is defined. A function expression has to be stored in a variable and can be accessed using </a:t>
            </a:r>
            <a:r>
              <a:rPr lang="en-US" sz="2200" b="0" i="1" dirty="0" err="1">
                <a:solidFill>
                  <a:srgbClr val="273239"/>
                </a:solidFill>
                <a:effectLst/>
                <a:highlight>
                  <a:srgbClr val="FFFFFF"/>
                </a:highlight>
                <a:latin typeface="Times New Roman" panose="02020603050405020304" pitchFamily="18" charset="0"/>
                <a:cs typeface="Times New Roman" panose="02020603050405020304" pitchFamily="18" charset="0"/>
              </a:rPr>
              <a:t>variableName</a:t>
            </a:r>
            <a:r>
              <a:rPr lang="en-US" sz="2200" b="0" i="1" dirty="0">
                <a:solidFill>
                  <a:srgbClr val="273239"/>
                </a:solidFill>
                <a:effectLst/>
                <a:highlight>
                  <a:srgbClr val="FFFFFF"/>
                </a:highlight>
                <a:latin typeface="Times New Roman" panose="02020603050405020304" pitchFamily="18" charset="0"/>
                <a:cs typeface="Times New Roman" panose="02020603050405020304" pitchFamily="18" charset="0"/>
              </a:rPr>
              <a:t>. </a:t>
            </a:r>
            <a:r>
              <a:rPr lang="en-US" sz="2200" b="0" i="0" dirty="0">
                <a:solidFill>
                  <a:srgbClr val="273239"/>
                </a:solidFill>
                <a:effectLst/>
                <a:highlight>
                  <a:srgbClr val="FFFFFF"/>
                </a:highlight>
                <a:latin typeface="Times New Roman" panose="02020603050405020304" pitchFamily="18" charset="0"/>
                <a:cs typeface="Times New Roman" panose="02020603050405020304" pitchFamily="18" charset="0"/>
              </a:rPr>
              <a:t> With the ES6 features introducing Arrow Function, it becomes more easier to declare function expression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15</a:t>
            </a:fld>
            <a:endParaRPr lang="en-US"/>
          </a:p>
        </p:txBody>
      </p:sp>
      <p:sp>
        <p:nvSpPr>
          <p:cNvPr id="3" name="Text Box 2"/>
          <p:cNvSpPr txBox="1"/>
          <p:nvPr/>
        </p:nvSpPr>
        <p:spPr>
          <a:xfrm>
            <a:off x="221615" y="958850"/>
            <a:ext cx="8733155" cy="5397500"/>
          </a:xfrm>
          <a:prstGeom prst="rect">
            <a:avLst/>
          </a:prstGeom>
        </p:spPr>
        <p:txBody>
          <a:bodyPr>
            <a:noAutofit/>
          </a:bodyPr>
          <a:lstStyle/>
          <a:p>
            <a:pPr marL="0" indent="0" algn="just" fontAlgn="base">
              <a:spcBef>
                <a:spcPct val="0"/>
              </a:spcBef>
              <a:spcAft>
                <a:spcPts val="500"/>
              </a:spcAft>
            </a:pPr>
            <a:r>
              <a:rPr lang="en-US" altLang="zh-CN" sz="2000" b="0">
                <a:latin typeface="Times New Roman" panose="02020603050405020304" pitchFamily="18" charset="0"/>
                <a:ea typeface="Nunito"/>
                <a:cs typeface="Times New Roman" panose="02020603050405020304" pitchFamily="18" charset="0"/>
              </a:rPr>
              <a:t>A function expression is a way to define a function by assigning it to a variable or using it within an expression, allowing the function to be stored, passed as an argument, or executed immediately.</a:t>
            </a:r>
          </a:p>
          <a:p>
            <a:pPr marL="152400" indent="0" algn="just" fontAlgn="base">
              <a:spcBef>
                <a:spcPct val="0"/>
              </a:spcBef>
              <a:spcAft>
                <a:spcPct val="0"/>
              </a:spcAft>
              <a:buFont typeface="Arial" panose="020B0604020202020204"/>
              <a:buChar char="•"/>
            </a:pPr>
            <a:r>
              <a:rPr lang="en-US" altLang="zh-CN" sz="2000">
                <a:solidFill>
                  <a:srgbClr val="273239"/>
                </a:solidFill>
                <a:latin typeface="Times New Roman" panose="02020603050405020304" pitchFamily="18" charset="0"/>
                <a:ea typeface="Nunito"/>
                <a:cs typeface="Times New Roman" panose="02020603050405020304" pitchFamily="18" charset="0"/>
              </a:rPr>
              <a:t>Function expressions can be named or anonymous.</a:t>
            </a:r>
          </a:p>
          <a:p>
            <a:pPr marL="152400" indent="0" algn="just" fontAlgn="base">
              <a:spcBef>
                <a:spcPct val="0"/>
              </a:spcBef>
              <a:spcAft>
                <a:spcPct val="0"/>
              </a:spcAft>
              <a:buFont typeface="Arial" panose="020B0604020202020204"/>
              <a:buChar char="•"/>
            </a:pPr>
            <a:r>
              <a:rPr lang="en-US" altLang="zh-CN" sz="2000">
                <a:solidFill>
                  <a:srgbClr val="273239"/>
                </a:solidFill>
                <a:latin typeface="Times New Roman" panose="02020603050405020304" pitchFamily="18" charset="0"/>
                <a:ea typeface="Nunito"/>
                <a:cs typeface="Times New Roman" panose="02020603050405020304" pitchFamily="18" charset="0"/>
              </a:rPr>
              <a:t>They are not </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2"/>
              </a:rPr>
              <a:t>hoisted</a:t>
            </a:r>
            <a:r>
              <a:rPr lang="en-US" altLang="zh-CN" sz="2000">
                <a:solidFill>
                  <a:srgbClr val="273239"/>
                </a:solidFill>
                <a:latin typeface="Times New Roman" panose="02020603050405020304" pitchFamily="18" charset="0"/>
                <a:ea typeface="Nunito"/>
                <a:cs typeface="Times New Roman" panose="02020603050405020304" pitchFamily="18" charset="0"/>
              </a:rPr>
              <a:t>, meaning they are accessible only after their definition.</a:t>
            </a:r>
          </a:p>
          <a:p>
            <a:pPr marL="152400" indent="0" algn="just" fontAlgn="base">
              <a:spcBef>
                <a:spcPct val="0"/>
              </a:spcBef>
              <a:spcAft>
                <a:spcPct val="0"/>
              </a:spcAft>
              <a:buFont typeface="Arial" panose="020B0604020202020204"/>
              <a:buChar char="•"/>
            </a:pPr>
            <a:r>
              <a:rPr lang="en-US" altLang="zh-CN" sz="2000">
                <a:solidFill>
                  <a:srgbClr val="273239"/>
                </a:solidFill>
                <a:latin typeface="Times New Roman" panose="02020603050405020304" pitchFamily="18" charset="0"/>
                <a:ea typeface="Nunito"/>
                <a:cs typeface="Times New Roman" panose="02020603050405020304" pitchFamily="18" charset="0"/>
              </a:rPr>
              <a:t>Frequently used in </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3"/>
              </a:rPr>
              <a:t>callbacks</a:t>
            </a:r>
            <a:r>
              <a:rPr lang="en-US" altLang="zh-CN" sz="2000">
                <a:solidFill>
                  <a:srgbClr val="273239"/>
                </a:solidFill>
                <a:latin typeface="Times New Roman" panose="02020603050405020304" pitchFamily="18" charset="0"/>
                <a:ea typeface="Nunito"/>
                <a:cs typeface="Times New Roman" panose="02020603050405020304" pitchFamily="18" charset="0"/>
              </a:rPr>
              <a:t>, </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4"/>
              </a:rPr>
              <a:t>closures</a:t>
            </a:r>
            <a:r>
              <a:rPr lang="en-US" altLang="zh-CN" sz="2000">
                <a:solidFill>
                  <a:srgbClr val="273239"/>
                </a:solidFill>
                <a:latin typeface="Times New Roman" panose="02020603050405020304" pitchFamily="18" charset="0"/>
                <a:ea typeface="Nunito"/>
                <a:cs typeface="Times New Roman" panose="02020603050405020304" pitchFamily="18" charset="0"/>
              </a:rPr>
              <a:t>, and dynamic function creation.</a:t>
            </a:r>
          </a:p>
          <a:p>
            <a:pPr marL="152400" indent="0" algn="just" fontAlgn="base">
              <a:spcBef>
                <a:spcPct val="0"/>
              </a:spcBef>
              <a:spcAft>
                <a:spcPct val="0"/>
              </a:spcAft>
              <a:buFont typeface="Arial" panose="020B0604020202020204"/>
              <a:buChar char="•"/>
            </a:pPr>
            <a:r>
              <a:rPr lang="en-US" altLang="zh-CN" sz="2000">
                <a:solidFill>
                  <a:srgbClr val="273239"/>
                </a:solidFill>
                <a:latin typeface="Times New Roman" panose="02020603050405020304" pitchFamily="18" charset="0"/>
                <a:ea typeface="Nunito"/>
                <a:cs typeface="Times New Roman" panose="02020603050405020304" pitchFamily="18" charset="0"/>
              </a:rPr>
              <a:t>Enable</a:t>
            </a:r>
            <a:r>
              <a:rPr lang="en-US" altLang="zh-CN" sz="2000" b="0" u="sng">
                <a:solidFill>
                  <a:srgbClr val="273239"/>
                </a:solidFill>
                <a:latin typeface="Times New Roman" panose="02020603050405020304" pitchFamily="18" charset="0"/>
                <a:ea typeface="Nunito"/>
                <a:cs typeface="Times New Roman" panose="02020603050405020304" pitchFamily="18" charset="0"/>
                <a:hlinkClick r:id="rId5"/>
              </a:rPr>
              <a:t> encapsulation</a:t>
            </a:r>
            <a:r>
              <a:rPr lang="en-US" altLang="zh-CN" sz="2000">
                <a:solidFill>
                  <a:srgbClr val="273239"/>
                </a:solidFill>
                <a:latin typeface="Times New Roman" panose="02020603050405020304" pitchFamily="18" charset="0"/>
                <a:ea typeface="Nunito"/>
                <a:cs typeface="Times New Roman" panose="02020603050405020304" pitchFamily="18" charset="0"/>
              </a:rPr>
              <a:t> of functionality within a limited scope</a:t>
            </a:r>
            <a:r>
              <a:rPr lang="en-US" altLang="zh-CN" sz="1600">
                <a:solidFill>
                  <a:srgbClr val="273239"/>
                </a:solidFill>
                <a:latin typeface="Nunito"/>
                <a:ea typeface="Nunito"/>
              </a:rPr>
              <a:t>.</a:t>
            </a:r>
          </a:p>
          <a:p>
            <a:pPr marL="152400" indent="0" algn="l" fontAlgn="base">
              <a:spcBef>
                <a:spcPct val="0"/>
              </a:spcBef>
              <a:spcAft>
                <a:spcPct val="0"/>
              </a:spcAft>
              <a:buFont typeface="Arial" panose="020B0604020202020204"/>
              <a:buChar char="•"/>
            </a:pPr>
            <a:endParaRPr lang="en-US" altLang="zh-CN" sz="1600">
              <a:solidFill>
                <a:srgbClr val="273239"/>
              </a:solidFill>
              <a:latin typeface="Nunito"/>
              <a:ea typeface="Nunito"/>
            </a:endParaRPr>
          </a:p>
        </p:txBody>
      </p:sp>
      <p:sp>
        <p:nvSpPr>
          <p:cNvPr id="4" name="Text Box 3"/>
          <p:cNvSpPr txBox="1"/>
          <p:nvPr/>
        </p:nvSpPr>
        <p:spPr>
          <a:xfrm>
            <a:off x="2371090" y="3750945"/>
            <a:ext cx="4572000" cy="1322070"/>
          </a:xfrm>
          <a:prstGeom prst="rect">
            <a:avLst/>
          </a:prstGeom>
          <a:noFill/>
        </p:spPr>
        <p:txBody>
          <a:bodyPr wrap="square" rtlCol="0" anchor="t">
            <a:spAutoFit/>
          </a:bodyPr>
          <a:lstStyle/>
          <a:p>
            <a:r>
              <a:rPr lang="en-US" altLang="en-US" sz="2000">
                <a:latin typeface="Times New Roman" panose="02020603050405020304" pitchFamily="18" charset="0"/>
                <a:cs typeface="Times New Roman" panose="02020603050405020304" pitchFamily="18" charset="0"/>
              </a:rPr>
              <a:t>const greet = function(name) {</a:t>
            </a:r>
          </a:p>
          <a:p>
            <a:r>
              <a:rPr lang="en-US" altLang="en-US" sz="2000">
                <a:latin typeface="Times New Roman" panose="02020603050405020304" pitchFamily="18" charset="0"/>
                <a:cs typeface="Times New Roman" panose="02020603050405020304" pitchFamily="18" charset="0"/>
              </a:rPr>
              <a:t>    return `Hello, ${name}!`;</a:t>
            </a:r>
          </a:p>
          <a:p>
            <a:r>
              <a:rPr lang="en-US" altLang="en-US" sz="2000">
                <a:latin typeface="Times New Roman" panose="02020603050405020304" pitchFamily="18" charset="0"/>
                <a:cs typeface="Times New Roman" panose="02020603050405020304" pitchFamily="18" charset="0"/>
              </a:rPr>
              <a:t>};</a:t>
            </a:r>
          </a:p>
          <a:p>
            <a:r>
              <a:rPr lang="en-US" altLang="en-US" sz="2000">
                <a:latin typeface="Times New Roman" panose="02020603050405020304" pitchFamily="18" charset="0"/>
                <a:cs typeface="Times New Roman" panose="02020603050405020304" pitchFamily="18" charset="0"/>
              </a:rPr>
              <a:t>console.log(greet("Steven"));</a:t>
            </a:r>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639663-3CA0-B7C4-DBF0-7261F37D3C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4" name="TextBox 3">
            <a:extLst>
              <a:ext uri="{FF2B5EF4-FFF2-40B4-BE49-F238E27FC236}">
                <a16:creationId xmlns:a16="http://schemas.microsoft.com/office/drawing/2014/main" id="{22260B05-0D1D-95B8-4AB4-2713A7AF3501}"/>
              </a:ext>
            </a:extLst>
          </p:cNvPr>
          <p:cNvSpPr txBox="1"/>
          <p:nvPr/>
        </p:nvSpPr>
        <p:spPr>
          <a:xfrm>
            <a:off x="2286000" y="3296543"/>
            <a:ext cx="4572000" cy="307777"/>
          </a:xfrm>
          <a:prstGeom prst="rect">
            <a:avLst/>
          </a:prstGeom>
          <a:noFill/>
        </p:spPr>
        <p:txBody>
          <a:bodyPr wrap="square">
            <a:spAutoFit/>
          </a:bodyPr>
          <a:lstStyle/>
          <a:p>
            <a:endParaRPr lang="en-IN" dirty="0"/>
          </a:p>
        </p:txBody>
      </p:sp>
      <p:sp>
        <p:nvSpPr>
          <p:cNvPr id="6" name="TextBox 5">
            <a:extLst>
              <a:ext uri="{FF2B5EF4-FFF2-40B4-BE49-F238E27FC236}">
                <a16:creationId xmlns:a16="http://schemas.microsoft.com/office/drawing/2014/main" id="{82F79B38-0F58-DD82-10C8-8A6FB7AD8C94}"/>
              </a:ext>
            </a:extLst>
          </p:cNvPr>
          <p:cNvSpPr txBox="1"/>
          <p:nvPr/>
        </p:nvSpPr>
        <p:spPr>
          <a:xfrm>
            <a:off x="500063" y="1214377"/>
            <a:ext cx="6357937" cy="5324535"/>
          </a:xfrm>
          <a:prstGeom prst="rect">
            <a:avLst/>
          </a:prstGeom>
          <a:noFill/>
        </p:spPr>
        <p:txBody>
          <a:bodyPr wrap="square">
            <a:spAutoFit/>
          </a:bodyPr>
          <a:lstStyle/>
          <a:p>
            <a:r>
              <a:rPr lang="en-IN" sz="2000" dirty="0"/>
              <a:t>&lt;!DOCTYPE html&gt;</a:t>
            </a:r>
          </a:p>
          <a:p>
            <a:r>
              <a:rPr lang="en-IN" sz="2000" dirty="0"/>
              <a:t>&lt;html&gt;</a:t>
            </a:r>
          </a:p>
          <a:p>
            <a:r>
              <a:rPr lang="en-IN" sz="2000" dirty="0"/>
              <a:t>&lt;body&gt;</a:t>
            </a:r>
          </a:p>
          <a:p>
            <a:endParaRPr lang="en-IN" sz="2000" dirty="0"/>
          </a:p>
          <a:p>
            <a:r>
              <a:rPr lang="en-IN" sz="2000" dirty="0"/>
              <a:t>&lt;h2&gt;Function Expression Example&lt;/h2&gt;</a:t>
            </a:r>
          </a:p>
          <a:p>
            <a:endParaRPr lang="en-IN" sz="2000" dirty="0"/>
          </a:p>
          <a:p>
            <a:r>
              <a:rPr lang="en-IN" sz="2000" dirty="0"/>
              <a:t>&lt;script&gt;</a:t>
            </a:r>
          </a:p>
          <a:p>
            <a:r>
              <a:rPr lang="en-IN" sz="2000" dirty="0"/>
              <a:t>var greet = function() {</a:t>
            </a:r>
          </a:p>
          <a:p>
            <a:r>
              <a:rPr lang="en-IN" sz="2000" dirty="0"/>
              <a:t>  </a:t>
            </a:r>
            <a:r>
              <a:rPr lang="en-IN" sz="2000" dirty="0" err="1"/>
              <a:t>document.write</a:t>
            </a:r>
            <a:r>
              <a:rPr lang="en-IN" sz="2000" dirty="0"/>
              <a:t>("Hello! This is a function expression.");</a:t>
            </a:r>
          </a:p>
          <a:p>
            <a:r>
              <a:rPr lang="en-IN" sz="2000" dirty="0"/>
              <a:t>};</a:t>
            </a:r>
          </a:p>
          <a:p>
            <a:endParaRPr lang="en-IN" sz="2000" dirty="0"/>
          </a:p>
          <a:p>
            <a:r>
              <a:rPr lang="en-IN" sz="2000" dirty="0"/>
              <a:t>greet();   // function call</a:t>
            </a:r>
          </a:p>
          <a:p>
            <a:r>
              <a:rPr lang="en-IN" sz="2000" dirty="0"/>
              <a:t>&lt;/script&gt;</a:t>
            </a:r>
          </a:p>
          <a:p>
            <a:endParaRPr lang="en-IN" sz="2000" dirty="0"/>
          </a:p>
          <a:p>
            <a:r>
              <a:rPr lang="en-IN" sz="2000" dirty="0"/>
              <a:t>&lt;/body&gt;</a:t>
            </a:r>
          </a:p>
          <a:p>
            <a:r>
              <a:rPr lang="en-IN" sz="2000" dirty="0"/>
              <a:t>&lt;/html&gt;</a:t>
            </a:r>
          </a:p>
        </p:txBody>
      </p:sp>
      <p:sp>
        <p:nvSpPr>
          <p:cNvPr id="8" name="TextBox 7">
            <a:extLst>
              <a:ext uri="{FF2B5EF4-FFF2-40B4-BE49-F238E27FC236}">
                <a16:creationId xmlns:a16="http://schemas.microsoft.com/office/drawing/2014/main" id="{A357E16A-8728-DB2F-4B64-24AC92C37638}"/>
              </a:ext>
            </a:extLst>
          </p:cNvPr>
          <p:cNvSpPr txBox="1"/>
          <p:nvPr/>
        </p:nvSpPr>
        <p:spPr>
          <a:xfrm>
            <a:off x="757238" y="208062"/>
            <a:ext cx="4572000" cy="553998"/>
          </a:xfrm>
          <a:prstGeom prst="rect">
            <a:avLst/>
          </a:prstGeom>
          <a:noFill/>
        </p:spPr>
        <p:txBody>
          <a:bodyPr wrap="square">
            <a:spAutoFit/>
          </a:bodyPr>
          <a:lstStyle/>
          <a:p>
            <a:r>
              <a:rPr lang="en-IN" sz="3000" b="1" dirty="0"/>
              <a:t>Function Expression</a:t>
            </a:r>
          </a:p>
        </p:txBody>
      </p:sp>
    </p:spTree>
    <p:extLst>
      <p:ext uri="{BB962C8B-B14F-4D97-AF65-F5344CB8AC3E}">
        <p14:creationId xmlns:p14="http://schemas.microsoft.com/office/powerpoint/2010/main" val="1891026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4" name="TextBox 3"/>
          <p:cNvSpPr txBox="1"/>
          <p:nvPr/>
        </p:nvSpPr>
        <p:spPr>
          <a:xfrm>
            <a:off x="289560" y="1035625"/>
            <a:ext cx="8564880" cy="532320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 this, we will pass a function as a parameter in JavaScript. Passing a function as an argument to the function is quite similar to passing a variable as an argument to the function. So variables can be returned from a function.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below examples describe passing a function as a parameter to another function. </a:t>
            </a:r>
          </a:p>
          <a:p>
            <a:pPr algn="just"/>
            <a:r>
              <a:rPr lang="en-US" sz="2000" dirty="0">
                <a:latin typeface="Times New Roman" panose="02020603050405020304" pitchFamily="18" charset="0"/>
                <a:cs typeface="Times New Roman" panose="02020603050405020304" pitchFamily="18" charset="0"/>
              </a:rPr>
              <a:t>Example 1: This example passes a function </a:t>
            </a:r>
            <a:r>
              <a:rPr lang="en-US" sz="2000" dirty="0" err="1">
                <a:latin typeface="Times New Roman" panose="02020603050405020304" pitchFamily="18" charset="0"/>
                <a:cs typeface="Times New Roman" panose="02020603050405020304" pitchFamily="18" charset="0"/>
              </a:rPr>
              <a:t>geeks_inner</a:t>
            </a:r>
            <a:r>
              <a:rPr lang="en-US" sz="2000" dirty="0">
                <a:latin typeface="Times New Roman" panose="02020603050405020304" pitchFamily="18" charset="0"/>
                <a:cs typeface="Times New Roman" panose="02020603050405020304" pitchFamily="18" charset="0"/>
              </a:rPr>
              <a:t> to the function </a:t>
            </a:r>
            <a:r>
              <a:rPr lang="en-US" sz="2000" dirty="0" err="1">
                <a:latin typeface="Times New Roman" panose="02020603050405020304" pitchFamily="18" charset="0"/>
                <a:cs typeface="Times New Roman" panose="02020603050405020304" pitchFamily="18" charset="0"/>
              </a:rPr>
              <a:t>geeks_outer</a:t>
            </a:r>
            <a:r>
              <a:rPr lang="en-US" sz="2000" dirty="0">
                <a:latin typeface="Times New Roman" panose="02020603050405020304" pitchFamily="18" charset="0"/>
                <a:cs typeface="Times New Roman" panose="02020603050405020304" pitchFamily="18" charset="0"/>
              </a:rPr>
              <a:t> as an argument. </a:t>
            </a:r>
          </a:p>
          <a:p>
            <a:endParaRPr lang="en-US" sz="2000" dirty="0">
              <a:latin typeface="Times New Roman" panose="02020603050405020304" pitchFamily="18" charset="0"/>
              <a:cs typeface="Times New Roman" panose="02020603050405020304" pitchFamily="18" charset="0"/>
            </a:endParaRPr>
          </a:p>
          <a:p>
            <a:r>
              <a:rPr lang="en-US" sz="2000" b="1" i="1" dirty="0">
                <a:latin typeface="Times New Roman" panose="02020603050405020304" pitchFamily="18" charset="0"/>
                <a:cs typeface="Times New Roman" panose="02020603050405020304" pitchFamily="18" charset="0"/>
              </a:rPr>
              <a:t>function </a:t>
            </a:r>
            <a:r>
              <a:rPr lang="en-US" sz="2000" b="1" i="1" dirty="0" err="1">
                <a:latin typeface="Times New Roman" panose="02020603050405020304" pitchFamily="18" charset="0"/>
                <a:cs typeface="Times New Roman" panose="02020603050405020304" pitchFamily="18" charset="0"/>
              </a:rPr>
              <a:t>geeks_inner</a:t>
            </a:r>
            <a:r>
              <a:rPr lang="en-US" sz="2000" b="1" i="1" dirty="0">
                <a:latin typeface="Times New Roman" panose="02020603050405020304" pitchFamily="18" charset="0"/>
                <a:cs typeface="Times New Roman" panose="02020603050405020304" pitchFamily="18" charset="0"/>
              </a:rPr>
              <a:t>(value){</a:t>
            </a:r>
          </a:p>
          <a:p>
            <a:r>
              <a:rPr lang="en-US" sz="2000" b="1" i="1" dirty="0">
                <a:latin typeface="Times New Roman" panose="02020603050405020304" pitchFamily="18" charset="0"/>
                <a:cs typeface="Times New Roman" panose="02020603050405020304" pitchFamily="18" charset="0"/>
              </a:rPr>
              <a:t>	return 'hello User!';</a:t>
            </a:r>
          </a:p>
          <a:p>
            <a:r>
              <a:rPr lang="en-US" sz="2000" b="1" i="1" dirty="0">
                <a:latin typeface="Times New Roman" panose="02020603050405020304" pitchFamily="18" charset="0"/>
                <a:cs typeface="Times New Roman" panose="02020603050405020304" pitchFamily="18" charset="0"/>
              </a:rPr>
              <a:t>}</a:t>
            </a:r>
          </a:p>
          <a:p>
            <a:r>
              <a:rPr lang="en-US" sz="2000" b="1" i="1" dirty="0">
                <a:latin typeface="Times New Roman" panose="02020603050405020304" pitchFamily="18" charset="0"/>
                <a:cs typeface="Times New Roman" panose="02020603050405020304" pitchFamily="18" charset="0"/>
              </a:rPr>
              <a:t>function </a:t>
            </a:r>
            <a:r>
              <a:rPr lang="en-US" sz="2000" b="1" i="1" dirty="0" err="1">
                <a:latin typeface="Times New Roman" panose="02020603050405020304" pitchFamily="18" charset="0"/>
                <a:cs typeface="Times New Roman" panose="02020603050405020304" pitchFamily="18" charset="0"/>
              </a:rPr>
              <a:t>geeks_outer</a:t>
            </a:r>
            <a:r>
              <a:rPr lang="en-US" sz="2000" b="1" i="1" dirty="0">
                <a:latin typeface="Times New Roman" panose="02020603050405020304" pitchFamily="18" charset="0"/>
                <a:cs typeface="Times New Roman" panose="02020603050405020304" pitchFamily="18" charset="0"/>
              </a:rPr>
              <a:t>(</a:t>
            </a:r>
            <a:r>
              <a:rPr lang="en-US" sz="2000" b="1" i="1" dirty="0" err="1">
                <a:latin typeface="Times New Roman" panose="02020603050405020304" pitchFamily="18" charset="0"/>
                <a:cs typeface="Times New Roman" panose="02020603050405020304" pitchFamily="18" charset="0"/>
              </a:rPr>
              <a:t>func</a:t>
            </a:r>
            <a:r>
              <a:rPr lang="en-US" sz="2000" b="1" i="1" dirty="0">
                <a:latin typeface="Times New Roman" panose="02020603050405020304" pitchFamily="18" charset="0"/>
                <a:cs typeface="Times New Roman" panose="02020603050405020304" pitchFamily="18" charset="0"/>
              </a:rPr>
              <a:t>){</a:t>
            </a:r>
          </a:p>
          <a:p>
            <a:r>
              <a:rPr lang="en-US" sz="2000" b="1" i="1" dirty="0">
                <a:latin typeface="Times New Roman" panose="02020603050405020304" pitchFamily="18" charset="0"/>
                <a:cs typeface="Times New Roman" panose="02020603050405020304" pitchFamily="18" charset="0"/>
              </a:rPr>
              <a:t>	console.log(</a:t>
            </a:r>
            <a:r>
              <a:rPr lang="en-US" sz="2000" b="1" i="1" dirty="0" err="1">
                <a:latin typeface="Times New Roman" panose="02020603050405020304" pitchFamily="18" charset="0"/>
                <a:cs typeface="Times New Roman" panose="02020603050405020304" pitchFamily="18" charset="0"/>
              </a:rPr>
              <a:t>geeks_inner</a:t>
            </a:r>
            <a:r>
              <a:rPr lang="en-US" sz="2000" b="1" i="1" dirty="0">
                <a:latin typeface="Times New Roman" panose="02020603050405020304" pitchFamily="18" charset="0"/>
                <a:cs typeface="Times New Roman" panose="02020603050405020304" pitchFamily="18" charset="0"/>
              </a:rPr>
              <a:t>());</a:t>
            </a:r>
          </a:p>
          <a:p>
            <a:r>
              <a:rPr lang="en-US" sz="2000" b="1" i="1" dirty="0">
                <a:latin typeface="Times New Roman" panose="02020603050405020304" pitchFamily="18" charset="0"/>
                <a:cs typeface="Times New Roman" panose="02020603050405020304" pitchFamily="18" charset="0"/>
              </a:rPr>
              <a:t>}</a:t>
            </a:r>
          </a:p>
          <a:p>
            <a:endParaRPr lang="en-US" sz="2000" b="1" i="1" dirty="0">
              <a:latin typeface="Times New Roman" panose="02020603050405020304" pitchFamily="18" charset="0"/>
              <a:cs typeface="Times New Roman" panose="02020603050405020304" pitchFamily="18" charset="0"/>
            </a:endParaRPr>
          </a:p>
          <a:p>
            <a:r>
              <a:rPr lang="en-US" sz="2000" b="1" i="1" dirty="0" err="1">
                <a:latin typeface="Times New Roman" panose="02020603050405020304" pitchFamily="18" charset="0"/>
                <a:cs typeface="Times New Roman" panose="02020603050405020304" pitchFamily="18" charset="0"/>
              </a:rPr>
              <a:t>geeks_outer</a:t>
            </a:r>
            <a:r>
              <a:rPr lang="en-US" sz="2000" b="1" i="1" dirty="0">
                <a:latin typeface="Times New Roman" panose="02020603050405020304" pitchFamily="18" charset="0"/>
                <a:cs typeface="Times New Roman" panose="02020603050405020304" pitchFamily="18" charset="0"/>
              </a:rPr>
              <a:t>(</a:t>
            </a:r>
            <a:r>
              <a:rPr lang="en-US" sz="2000" b="1" i="1" dirty="0" err="1">
                <a:latin typeface="Times New Roman" panose="02020603050405020304" pitchFamily="18" charset="0"/>
                <a:cs typeface="Times New Roman" panose="02020603050405020304" pitchFamily="18" charset="0"/>
              </a:rPr>
              <a:t>geeks_inner</a:t>
            </a:r>
            <a:r>
              <a:rPr lang="en-US" sz="2000" b="1" i="1" dirty="0">
                <a:latin typeface="Times New Roman" panose="02020603050405020304" pitchFamily="18" charset="0"/>
                <a:cs typeface="Times New Roman" panose="02020603050405020304" pitchFamily="18" charset="0"/>
              </a:rPr>
              <a:t>);</a:t>
            </a:r>
          </a:p>
        </p:txBody>
      </p:sp>
      <p:sp>
        <p:nvSpPr>
          <p:cNvPr id="6" name="TextBox 5"/>
          <p:cNvSpPr txBox="1"/>
          <p:nvPr/>
        </p:nvSpPr>
        <p:spPr>
          <a:xfrm>
            <a:off x="111760" y="-81042"/>
            <a:ext cx="6512560" cy="954107"/>
          </a:xfrm>
          <a:prstGeom prst="rect">
            <a:avLst/>
          </a:prstGeom>
          <a:noFill/>
        </p:spPr>
        <p:txBody>
          <a:bodyPr wrap="square">
            <a:spAutoFit/>
          </a:bodyPr>
          <a:lstStyle/>
          <a:p>
            <a:r>
              <a:rPr lang="en-US" sz="2700" b="1" dirty="0"/>
              <a:t>Passing a function as a parameter in JavaScript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27968D-710D-2988-09AB-CD3FF64537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4" name="TextBox 3">
            <a:extLst>
              <a:ext uri="{FF2B5EF4-FFF2-40B4-BE49-F238E27FC236}">
                <a16:creationId xmlns:a16="http://schemas.microsoft.com/office/drawing/2014/main" id="{96999BB4-5777-983A-5CCC-63918A81E558}"/>
              </a:ext>
            </a:extLst>
          </p:cNvPr>
          <p:cNvSpPr txBox="1"/>
          <p:nvPr/>
        </p:nvSpPr>
        <p:spPr>
          <a:xfrm>
            <a:off x="885825" y="1278037"/>
            <a:ext cx="4572000" cy="5078313"/>
          </a:xfrm>
          <a:prstGeom prst="rect">
            <a:avLst/>
          </a:prstGeom>
          <a:noFill/>
        </p:spPr>
        <p:txBody>
          <a:bodyPr wrap="square">
            <a:spAutoFit/>
          </a:bodyPr>
          <a:lstStyle/>
          <a:p>
            <a:r>
              <a:rPr lang="en-IN" sz="1800" dirty="0"/>
              <a:t>&lt;!DOCTYPE html&gt;</a:t>
            </a:r>
          </a:p>
          <a:p>
            <a:r>
              <a:rPr lang="en-IN" sz="1800" dirty="0"/>
              <a:t>&lt;html&gt;</a:t>
            </a:r>
          </a:p>
          <a:p>
            <a:r>
              <a:rPr lang="en-IN" sz="1800" dirty="0"/>
              <a:t>&lt;body&gt;</a:t>
            </a:r>
          </a:p>
          <a:p>
            <a:endParaRPr lang="en-IN" sz="1800" dirty="0"/>
          </a:p>
          <a:p>
            <a:r>
              <a:rPr lang="en-IN" sz="1800" dirty="0"/>
              <a:t>&lt;h2&gt;Function Expression with Parameters&lt;/h2&gt;</a:t>
            </a:r>
          </a:p>
          <a:p>
            <a:endParaRPr lang="en-IN" sz="1800" dirty="0"/>
          </a:p>
          <a:p>
            <a:r>
              <a:rPr lang="en-IN" sz="1800" dirty="0"/>
              <a:t>&lt;script&gt;</a:t>
            </a:r>
          </a:p>
          <a:p>
            <a:r>
              <a:rPr lang="en-IN" sz="1800" dirty="0"/>
              <a:t>var multiply = function(a, b) {</a:t>
            </a:r>
          </a:p>
          <a:p>
            <a:r>
              <a:rPr lang="en-IN" sz="1800" dirty="0"/>
              <a:t>  return a * b;</a:t>
            </a:r>
          </a:p>
          <a:p>
            <a:r>
              <a:rPr lang="en-IN" sz="1800" dirty="0"/>
              <a:t>};</a:t>
            </a:r>
          </a:p>
          <a:p>
            <a:endParaRPr lang="en-IN" sz="1800" dirty="0"/>
          </a:p>
          <a:p>
            <a:r>
              <a:rPr lang="en-IN" sz="1800" dirty="0"/>
              <a:t>var result = multiply(4, 5);</a:t>
            </a:r>
          </a:p>
          <a:p>
            <a:r>
              <a:rPr lang="en-IN" sz="1800" dirty="0" err="1"/>
              <a:t>document.write</a:t>
            </a:r>
            <a:r>
              <a:rPr lang="en-IN" sz="1800" dirty="0"/>
              <a:t>("Result = " + result);</a:t>
            </a:r>
          </a:p>
          <a:p>
            <a:r>
              <a:rPr lang="en-IN" sz="1800" dirty="0"/>
              <a:t>&lt;/script&gt;</a:t>
            </a:r>
          </a:p>
          <a:p>
            <a:endParaRPr lang="en-IN" sz="1800" dirty="0"/>
          </a:p>
          <a:p>
            <a:r>
              <a:rPr lang="en-IN" sz="1800" dirty="0"/>
              <a:t>&lt;/body&gt;</a:t>
            </a:r>
          </a:p>
          <a:p>
            <a:r>
              <a:rPr lang="en-IN" sz="1800" dirty="0"/>
              <a:t>&lt;/html&gt;</a:t>
            </a:r>
          </a:p>
        </p:txBody>
      </p:sp>
      <p:sp>
        <p:nvSpPr>
          <p:cNvPr id="6" name="TextBox 5">
            <a:extLst>
              <a:ext uri="{FF2B5EF4-FFF2-40B4-BE49-F238E27FC236}">
                <a16:creationId xmlns:a16="http://schemas.microsoft.com/office/drawing/2014/main" id="{3C1BA5B8-B0F8-DB7B-571C-0EB6DCC6A7C4}"/>
              </a:ext>
            </a:extLst>
          </p:cNvPr>
          <p:cNvSpPr txBox="1"/>
          <p:nvPr/>
        </p:nvSpPr>
        <p:spPr>
          <a:xfrm>
            <a:off x="414336" y="263123"/>
            <a:ext cx="5853113" cy="477054"/>
          </a:xfrm>
          <a:prstGeom prst="rect">
            <a:avLst/>
          </a:prstGeom>
          <a:noFill/>
        </p:spPr>
        <p:txBody>
          <a:bodyPr wrap="square">
            <a:spAutoFit/>
          </a:bodyPr>
          <a:lstStyle/>
          <a:p>
            <a:r>
              <a:rPr lang="en-IN" sz="2500" b="1" dirty="0"/>
              <a:t>Function Expression with parameters</a:t>
            </a:r>
          </a:p>
        </p:txBody>
      </p:sp>
    </p:spTree>
    <p:extLst>
      <p:ext uri="{BB962C8B-B14F-4D97-AF65-F5344CB8AC3E}">
        <p14:creationId xmlns:p14="http://schemas.microsoft.com/office/powerpoint/2010/main" val="3798821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3" name="TextBox 2"/>
          <p:cNvSpPr txBox="1"/>
          <p:nvPr/>
        </p:nvSpPr>
        <p:spPr>
          <a:xfrm>
            <a:off x="538480" y="152400"/>
            <a:ext cx="3310890" cy="583565"/>
          </a:xfrm>
          <a:prstGeom prst="rect">
            <a:avLst/>
          </a:prstGeom>
          <a:noFill/>
        </p:spPr>
        <p:txBody>
          <a:bodyPr wrap="none" rtlCol="0">
            <a:spAutoFit/>
          </a:bodyPr>
          <a:lstStyle/>
          <a:p>
            <a:pPr algn="l"/>
            <a:r>
              <a:rPr lang="en-US" sz="3200" b="1" i="0" dirty="0">
                <a:solidFill>
                  <a:srgbClr val="000000"/>
                </a:solidFill>
                <a:effectLst/>
                <a:latin typeface="Times New Roman" panose="02020603050405020304" pitchFamily="18" charset="0"/>
                <a:cs typeface="Times New Roman" panose="02020603050405020304" pitchFamily="18" charset="0"/>
              </a:rPr>
              <a:t>Function Hoisting</a:t>
            </a:r>
          </a:p>
        </p:txBody>
      </p:sp>
      <p:sp>
        <p:nvSpPr>
          <p:cNvPr id="5" name="TextBox 4"/>
          <p:cNvSpPr txBox="1"/>
          <p:nvPr/>
        </p:nvSpPr>
        <p:spPr>
          <a:xfrm>
            <a:off x="386080" y="909529"/>
            <a:ext cx="8300720" cy="5262245"/>
          </a:xfrm>
          <a:prstGeom prst="rect">
            <a:avLst/>
          </a:prstGeom>
          <a:noFill/>
        </p:spPr>
        <p:txBody>
          <a:bodyPr wrap="square">
            <a:spAutoFit/>
          </a:bodyPr>
          <a:lstStyle/>
          <a:p>
            <a:pPr algn="just"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What is Hoisting in JavaScript?</a:t>
            </a:r>
          </a:p>
          <a:p>
            <a:pPr algn="just" rtl="0" fontAlgn="base"/>
            <a:r>
              <a:rPr lang="en-US" sz="2400" b="0" i="0" dirty="0">
                <a:solidFill>
                  <a:srgbClr val="273239"/>
                </a:solidFill>
                <a:effectLst/>
                <a:latin typeface="Times New Roman" panose="02020603050405020304" pitchFamily="18" charset="0"/>
                <a:cs typeface="Times New Roman" panose="02020603050405020304" pitchFamily="18" charset="0"/>
              </a:rPr>
              <a:t>Hoisting is the default behavior in JavaScript where variable and function declarations are moved to the top of their respective scopes during the compilation phase. This guarantees that regardless of where these declarations appear within a scope, they can be accessed throughout that scope.</a:t>
            </a:r>
          </a:p>
          <a:p>
            <a:pPr algn="just" rtl="0"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latin typeface="Times New Roman" panose="02020603050405020304" pitchFamily="18" charset="0"/>
                <a:cs typeface="Times New Roman" panose="02020603050405020304" pitchFamily="18" charset="0"/>
              </a:rPr>
              <a:t>Features of Hoisting</a:t>
            </a:r>
          </a:p>
          <a:p>
            <a:pPr algn="just"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Declarations are hoisted, not initializations.</a:t>
            </a:r>
          </a:p>
          <a:p>
            <a:pPr algn="just"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Allows calling functions before their declarations.</a:t>
            </a:r>
          </a:p>
          <a:p>
            <a:pPr indent="92075" algn="just"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All variable and function declarations are processed before any code execution.</a:t>
            </a:r>
          </a:p>
          <a:p>
            <a:pPr algn="just"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Undeclared variables are implicitly created as global variables when assigned a value.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3" name="TextBox 2"/>
          <p:cNvSpPr txBox="1"/>
          <p:nvPr/>
        </p:nvSpPr>
        <p:spPr>
          <a:xfrm>
            <a:off x="538480" y="152400"/>
            <a:ext cx="3310890" cy="583565"/>
          </a:xfrm>
          <a:prstGeom prst="rect">
            <a:avLst/>
          </a:prstGeom>
          <a:noFill/>
        </p:spPr>
        <p:txBody>
          <a:bodyPr wrap="none" rtlCol="0">
            <a:spAutoFit/>
          </a:bodyPr>
          <a:lstStyle/>
          <a:p>
            <a:pPr algn="l"/>
            <a:r>
              <a:rPr lang="en-US" sz="3200" b="1" i="0" dirty="0">
                <a:solidFill>
                  <a:srgbClr val="000000"/>
                </a:solidFill>
                <a:effectLst/>
                <a:latin typeface="Times New Roman" panose="02020603050405020304" pitchFamily="18" charset="0"/>
                <a:cs typeface="Times New Roman" panose="02020603050405020304" pitchFamily="18" charset="0"/>
              </a:rPr>
              <a:t>Function Hoisting</a:t>
            </a:r>
          </a:p>
        </p:txBody>
      </p:sp>
      <p:sp>
        <p:nvSpPr>
          <p:cNvPr id="5" name="TextBox 4"/>
          <p:cNvSpPr txBox="1"/>
          <p:nvPr/>
        </p:nvSpPr>
        <p:spPr>
          <a:xfrm>
            <a:off x="386080" y="1720840"/>
            <a:ext cx="8300720" cy="3415030"/>
          </a:xfrm>
          <a:prstGeom prst="rect">
            <a:avLst/>
          </a:prstGeom>
          <a:noFill/>
        </p:spPr>
        <p:txBody>
          <a:bodyPr wrap="square">
            <a:spAutoFit/>
          </a:bodyPr>
          <a:lstStyle/>
          <a:p>
            <a:pPr algn="just"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 Hoisting</a:t>
            </a:r>
          </a:p>
          <a:p>
            <a:pPr algn="just" fontAlgn="base"/>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function </a:t>
            </a:r>
            <a:r>
              <a:rPr lang="en-US" sz="2400" b="1" i="0" dirty="0" err="1">
                <a:solidFill>
                  <a:srgbClr val="273239"/>
                </a:solidFill>
                <a:effectLst/>
                <a:highlight>
                  <a:srgbClr val="00FFFF"/>
                </a:highlight>
                <a:latin typeface="Times New Roman" panose="02020603050405020304" pitchFamily="18" charset="0"/>
                <a:cs typeface="Times New Roman" panose="02020603050405020304" pitchFamily="18" charset="0"/>
              </a:rPr>
              <a:t>codeHoist</a:t>
            </a:r>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 {</a:t>
            </a:r>
          </a:p>
          <a:p>
            <a:pPr algn="just" fontAlgn="base"/>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    a = 10;</a:t>
            </a:r>
          </a:p>
          <a:p>
            <a:pPr algn="just" fontAlgn="base"/>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    let b = 50;</a:t>
            </a:r>
          </a:p>
          <a:p>
            <a:pPr algn="just" fontAlgn="base"/>
            <a:r>
              <a:rPr lang="en-US" sz="2400" b="1" i="0" dirty="0">
                <a:solidFill>
                  <a:srgbClr val="273239"/>
                </a:solidFill>
                <a:effectLst/>
                <a:highlight>
                  <a:srgbClr val="00FFFF"/>
                </a:highlight>
                <a:latin typeface="Times New Roman" panose="02020603050405020304" pitchFamily="18" charset="0"/>
                <a:cs typeface="Times New Roman" panose="02020603050405020304" pitchFamily="18" charset="0"/>
              </a:rPr>
              <a:t>}</a:t>
            </a:r>
          </a:p>
          <a:p>
            <a:pPr algn="just" fontAlgn="base"/>
            <a:r>
              <a:rPr lang="en-US" sz="2400" b="1" i="0" dirty="0" err="1">
                <a:solidFill>
                  <a:srgbClr val="273239"/>
                </a:solidFill>
                <a:effectLst/>
                <a:highlight>
                  <a:srgbClr val="FFFFFF"/>
                </a:highlight>
                <a:latin typeface="Times New Roman" panose="02020603050405020304" pitchFamily="18" charset="0"/>
                <a:cs typeface="Times New Roman" panose="02020603050405020304" pitchFamily="18" charset="0"/>
              </a:rPr>
              <a:t>codeHoist</a:t>
            </a: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a:t>
            </a:r>
          </a:p>
          <a:p>
            <a:pPr algn="just" fontAlgn="base"/>
            <a:endPar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console.log(a); // 10</a:t>
            </a:r>
          </a:p>
          <a:p>
            <a:pPr algn="just" fontAlgn="base"/>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console.log(b); // </a:t>
            </a:r>
            <a:r>
              <a:rPr lang="en-US" sz="2400" b="1" i="0" dirty="0" err="1">
                <a:solidFill>
                  <a:srgbClr val="273239"/>
                </a:solidFill>
                <a:effectLst/>
                <a:highlight>
                  <a:srgbClr val="FFFFFF"/>
                </a:highlight>
                <a:latin typeface="Times New Roman" panose="02020603050405020304" pitchFamily="18" charset="0"/>
                <a:cs typeface="Times New Roman" panose="02020603050405020304" pitchFamily="18" charset="0"/>
              </a:rPr>
              <a:t>ReferenceError</a:t>
            </a:r>
            <a:r>
              <a:rPr lang="en-US" sz="2400" b="1" i="0" dirty="0">
                <a:solidFill>
                  <a:srgbClr val="273239"/>
                </a:solidFill>
                <a:effectLst/>
                <a:highlight>
                  <a:srgbClr val="FFFFFF"/>
                </a:highlight>
                <a:latin typeface="Times New Roman" panose="02020603050405020304" pitchFamily="18" charset="0"/>
                <a:cs typeface="Times New Roman" panose="02020603050405020304" pitchFamily="18" charset="0"/>
              </a:rPr>
              <a:t> : b is not defined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0F3DA8-5E69-E7BF-47B5-DF9E173F83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6" name="TextBox 5">
            <a:extLst>
              <a:ext uri="{FF2B5EF4-FFF2-40B4-BE49-F238E27FC236}">
                <a16:creationId xmlns:a16="http://schemas.microsoft.com/office/drawing/2014/main" id="{688F059A-7948-06A3-78D0-267A0D5A4370}"/>
              </a:ext>
            </a:extLst>
          </p:cNvPr>
          <p:cNvSpPr txBox="1"/>
          <p:nvPr/>
        </p:nvSpPr>
        <p:spPr>
          <a:xfrm>
            <a:off x="714375" y="873720"/>
            <a:ext cx="4572000" cy="5078313"/>
          </a:xfrm>
          <a:prstGeom prst="rect">
            <a:avLst/>
          </a:prstGeom>
          <a:noFill/>
        </p:spPr>
        <p:txBody>
          <a:bodyPr wrap="square">
            <a:spAutoFit/>
          </a:bodyPr>
          <a:lstStyle/>
          <a:p>
            <a:endParaRPr lang="en-IN" sz="1800" dirty="0"/>
          </a:p>
          <a:p>
            <a:r>
              <a:rPr lang="en-IN" sz="1800" dirty="0"/>
              <a:t>&lt;!DOCTYPE html&gt;</a:t>
            </a:r>
          </a:p>
          <a:p>
            <a:r>
              <a:rPr lang="en-IN" sz="1800" dirty="0"/>
              <a:t>&lt;html&gt;</a:t>
            </a:r>
          </a:p>
          <a:p>
            <a:r>
              <a:rPr lang="en-IN" sz="1800" dirty="0"/>
              <a:t>&lt;body&gt;</a:t>
            </a:r>
          </a:p>
          <a:p>
            <a:endParaRPr lang="en-IN" sz="1800" dirty="0"/>
          </a:p>
          <a:p>
            <a:r>
              <a:rPr lang="en-IN" sz="1800" dirty="0"/>
              <a:t>&lt;h2&gt;Function Hoisting Example&lt;/h2&gt;</a:t>
            </a:r>
          </a:p>
          <a:p>
            <a:endParaRPr lang="en-IN" sz="1800" dirty="0"/>
          </a:p>
          <a:p>
            <a:r>
              <a:rPr lang="en-IN" sz="1800" dirty="0"/>
              <a:t>&lt;script&gt;</a:t>
            </a:r>
          </a:p>
          <a:p>
            <a:r>
              <a:rPr lang="en-IN" sz="1800" dirty="0" err="1"/>
              <a:t>sayHello</a:t>
            </a:r>
            <a:r>
              <a:rPr lang="en-IN" sz="1800" dirty="0"/>
              <a:t>();   // function call before definition</a:t>
            </a:r>
          </a:p>
          <a:p>
            <a:endParaRPr lang="en-IN" sz="1800" dirty="0"/>
          </a:p>
          <a:p>
            <a:r>
              <a:rPr lang="en-IN" sz="1800" dirty="0"/>
              <a:t>function </a:t>
            </a:r>
            <a:r>
              <a:rPr lang="en-IN" sz="1800" dirty="0" err="1"/>
              <a:t>sayHello</a:t>
            </a:r>
            <a:r>
              <a:rPr lang="en-IN" sz="1800" dirty="0"/>
              <a:t>() {</a:t>
            </a:r>
          </a:p>
          <a:p>
            <a:r>
              <a:rPr lang="en-IN" sz="1800" dirty="0"/>
              <a:t>  </a:t>
            </a:r>
            <a:r>
              <a:rPr lang="en-IN" sz="1800" dirty="0" err="1"/>
              <a:t>document.write</a:t>
            </a:r>
            <a:r>
              <a:rPr lang="en-IN" sz="1800" dirty="0"/>
              <a:t>("Hello! Function hoisting works.");</a:t>
            </a:r>
          </a:p>
          <a:p>
            <a:r>
              <a:rPr lang="en-IN" sz="1800" dirty="0"/>
              <a:t>}</a:t>
            </a:r>
          </a:p>
          <a:p>
            <a:r>
              <a:rPr lang="en-IN" sz="1800" dirty="0"/>
              <a:t>&lt;/script&gt;</a:t>
            </a:r>
          </a:p>
          <a:p>
            <a:endParaRPr lang="en-IN" sz="1800" dirty="0"/>
          </a:p>
          <a:p>
            <a:r>
              <a:rPr lang="en-IN" sz="1800" dirty="0"/>
              <a:t>&lt;/body&gt;</a:t>
            </a:r>
          </a:p>
          <a:p>
            <a:r>
              <a:rPr lang="en-IN" sz="1800" dirty="0"/>
              <a:t>&lt;/html&gt;</a:t>
            </a:r>
          </a:p>
        </p:txBody>
      </p:sp>
    </p:spTree>
    <p:extLst>
      <p:ext uri="{BB962C8B-B14F-4D97-AF65-F5344CB8AC3E}">
        <p14:creationId xmlns:p14="http://schemas.microsoft.com/office/powerpoint/2010/main" val="2508637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3" name="TextBox 2"/>
          <p:cNvSpPr txBox="1"/>
          <p:nvPr/>
        </p:nvSpPr>
        <p:spPr>
          <a:xfrm>
            <a:off x="538480" y="152400"/>
            <a:ext cx="5974715" cy="583565"/>
          </a:xfrm>
          <a:prstGeom prst="rect">
            <a:avLst/>
          </a:prstGeom>
          <a:noFill/>
        </p:spPr>
        <p:txBody>
          <a:bodyPr wrap="none" rtlCol="0">
            <a:spAutoFit/>
          </a:bodyPr>
          <a:lstStyle/>
          <a:p>
            <a:pPr algn="l"/>
            <a:r>
              <a:rPr lang="en-US" sz="3200" b="1" i="0" dirty="0">
                <a:solidFill>
                  <a:srgbClr val="000000"/>
                </a:solidFill>
                <a:effectLst/>
                <a:latin typeface="Times New Roman" panose="02020603050405020304" pitchFamily="18" charset="0"/>
                <a:cs typeface="Times New Roman" panose="02020603050405020304" pitchFamily="18" charset="0"/>
              </a:rPr>
              <a:t>Function Hoisting- Example code</a:t>
            </a:r>
          </a:p>
        </p:txBody>
      </p:sp>
      <p:sp>
        <p:nvSpPr>
          <p:cNvPr id="6" name="TextBox 5"/>
          <p:cNvSpPr txBox="1"/>
          <p:nvPr/>
        </p:nvSpPr>
        <p:spPr>
          <a:xfrm>
            <a:off x="259080" y="968404"/>
            <a:ext cx="8803640" cy="400110"/>
          </a:xfrm>
          <a:prstGeom prst="rect">
            <a:avLst/>
          </a:prstGeom>
          <a:noFill/>
        </p:spPr>
        <p:txBody>
          <a:bodyPr wrap="square">
            <a:spAutoFit/>
          </a:bodyPr>
          <a:lstStyle/>
          <a:p>
            <a:pPr algn="just">
              <a:buFont typeface="Arial" panose="020B0604020202020204" pitchFamily="34" charset="0"/>
              <a:buChar char="•"/>
            </a:pPr>
            <a:endParaRPr lang="en-US" sz="2000" b="0" i="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endParaRPr>
          </a:p>
        </p:txBody>
      </p:sp>
      <p:graphicFrame>
        <p:nvGraphicFramePr>
          <p:cNvPr id="4" name="Table 3"/>
          <p:cNvGraphicFramePr>
            <a:graphicFrameLocks noGrp="1"/>
          </p:cNvGraphicFramePr>
          <p:nvPr/>
        </p:nvGraphicFramePr>
        <p:xfrm>
          <a:off x="386080" y="1249680"/>
          <a:ext cx="8498840" cy="4998720"/>
        </p:xfrm>
        <a:graphic>
          <a:graphicData uri="http://schemas.openxmlformats.org/drawingml/2006/table">
            <a:tbl>
              <a:tblPr firstRow="1" bandRow="1">
                <a:tableStyleId>{BD24CE57-81FB-4CE5-B3F0-45E823DBC81C}</a:tableStyleId>
              </a:tblPr>
              <a:tblGrid>
                <a:gridCol w="4185920">
                  <a:extLst>
                    <a:ext uri="{9D8B030D-6E8A-4147-A177-3AD203B41FA5}">
                      <a16:colId xmlns:a16="http://schemas.microsoft.com/office/drawing/2014/main" val="20000"/>
                    </a:ext>
                  </a:extLst>
                </a:gridCol>
                <a:gridCol w="4312920">
                  <a:extLst>
                    <a:ext uri="{9D8B030D-6E8A-4147-A177-3AD203B41FA5}">
                      <a16:colId xmlns:a16="http://schemas.microsoft.com/office/drawing/2014/main" val="20001"/>
                    </a:ext>
                  </a:extLst>
                </a:gridCol>
              </a:tblGrid>
              <a:tr h="4998720">
                <a:tc>
                  <a:txBody>
                    <a:bodyPr/>
                    <a:lstStyle/>
                    <a:p>
                      <a:pPr algn="just" fontAlgn="base"/>
                      <a:r>
                        <a:rPr lang="en-US" sz="2000" b="1" dirty="0" err="1">
                          <a:solidFill>
                            <a:srgbClr val="273239"/>
                          </a:solidFill>
                          <a:highlight>
                            <a:srgbClr val="000000">
                              <a:alpha val="0"/>
                            </a:srgbClr>
                          </a:highlight>
                          <a:latin typeface="Times New Roman" panose="02020603050405020304" pitchFamily="18" charset="0"/>
                          <a:cs typeface="Times New Roman" panose="02020603050405020304" pitchFamily="18" charset="0"/>
                        </a:rPr>
                        <a:t>J</a:t>
                      </a:r>
                      <a:r>
                        <a:rPr lang="en-US" sz="2000" b="1" i="0" dirty="0" err="1">
                          <a:solidFill>
                            <a:srgbClr val="273239"/>
                          </a:solidFill>
                          <a:effectLst/>
                          <a:highlight>
                            <a:srgbClr val="000000">
                              <a:alpha val="0"/>
                            </a:srgbClr>
                          </a:highlight>
                          <a:latin typeface="Times New Roman" panose="02020603050405020304" pitchFamily="18" charset="0"/>
                          <a:cs typeface="Times New Roman" panose="02020603050405020304" pitchFamily="18" charset="0"/>
                        </a:rPr>
                        <a:t>avascript</a:t>
                      </a:r>
                      <a:r>
                        <a:rPr lang="en-US" sz="2000" b="1"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rPr>
                        <a:t> Nested functions</a:t>
                      </a:r>
                    </a:p>
                    <a:p>
                      <a:pPr algn="just" fontAlgn="base"/>
                      <a:endParaRPr lang="en-US" sz="2000" b="1"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endParaRPr>
                    </a:p>
                    <a:p>
                      <a:pPr algn="just" rtl="0" fontAlgn="base">
                        <a:lnSpc>
                          <a:spcPct val="150000"/>
                        </a:lnSpc>
                      </a:pPr>
                      <a:r>
                        <a:rPr lang="en-US" sz="2000" b="0"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rPr>
                        <a:t>In JavaScript, Functions within another function are called “Nested function.” These nested functions have access to the variables and parameters of the outer (enclosing) function, creating a scope hierarchy. A function can have one or more inner functions. </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p>
                    <a:p>
                      <a:endPar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endParaRPr>
                    </a:p>
                  </a:txBody>
                  <a:tcPr/>
                </a:tc>
                <a:tc>
                  <a:txBody>
                    <a:bodyPr/>
                    <a:lstStyle/>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Outer function</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function </a:t>
                      </a:r>
                      <a:r>
                        <a:rPr kumimoji="0" lang="en-US" altLang="en-US" sz="2000" b="0" i="0" u="none" strike="noStrike" cap="none" normalizeH="0" baseline="0" dirty="0" err="1">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outerFunction</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 Nested function</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function </a:t>
                      </a:r>
                      <a:r>
                        <a:rPr kumimoji="0" lang="en-US" altLang="en-US" sz="2000" b="0" i="0" u="none" strike="noStrike" cap="none" normalizeH="0" baseline="0" dirty="0" err="1">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nestedFunction</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 Function logic here</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 Call the nested function</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nestedFunction</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 Rest of the outer function logic</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p>
                    <a:p>
                      <a:pPr rtl="0" fontAlgn="base"/>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 Call the outer function</a:t>
                      </a:r>
                    </a:p>
                    <a:p>
                      <a:pPr rtl="0" fontAlgn="base"/>
                      <a:r>
                        <a:rPr kumimoji="0" lang="en-US" altLang="en-US" sz="2000" b="0" i="0" u="none" strike="noStrike" cap="none" normalizeH="0" baseline="0" dirty="0" err="1">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outerFunction</a:t>
                      </a:r>
                      <a:r>
                        <a:rPr kumimoji="0" lang="en-US" altLang="en-US" sz="2000" b="0" i="0" u="none" strike="noStrike" cap="none" normalizeH="0" baseline="0" dirty="0">
                          <a:ln>
                            <a:noFill/>
                          </a:ln>
                          <a:solidFill>
                            <a:schemeClr val="tx1"/>
                          </a:solidFill>
                          <a:effectLst/>
                          <a:highlight>
                            <a:srgbClr val="000000">
                              <a:alpha val="0"/>
                            </a:srgbClr>
                          </a:highlight>
                          <a:latin typeface="Times New Roman" panose="02020603050405020304" pitchFamily="18" charset="0"/>
                          <a:cs typeface="Times New Roman" panose="02020603050405020304" pitchFamily="18" charset="0"/>
                        </a:rPr>
                        <a:t>();</a:t>
                      </a:r>
                      <a:endParaRPr lang="en-US" sz="2000" b="0"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endParaRPr>
                    </a:p>
                    <a:p>
                      <a:endParaRPr lang="en-US" sz="2000" b="0" i="0" dirty="0">
                        <a:solidFill>
                          <a:srgbClr val="273239"/>
                        </a:solidFill>
                        <a:effectLst/>
                        <a:highlight>
                          <a:srgbClr val="000000">
                            <a:alpha val="0"/>
                          </a:srgbClr>
                        </a:highligh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256096-97A7-448E-D48B-DCF913D226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4" name="TextBox 3">
            <a:extLst>
              <a:ext uri="{FF2B5EF4-FFF2-40B4-BE49-F238E27FC236}">
                <a16:creationId xmlns:a16="http://schemas.microsoft.com/office/drawing/2014/main" id="{7DB53871-EAED-1197-EFD3-884B7B45D711}"/>
              </a:ext>
            </a:extLst>
          </p:cNvPr>
          <p:cNvSpPr txBox="1"/>
          <p:nvPr/>
        </p:nvSpPr>
        <p:spPr>
          <a:xfrm>
            <a:off x="1057275" y="1034385"/>
            <a:ext cx="5800725" cy="4801314"/>
          </a:xfrm>
          <a:prstGeom prst="rect">
            <a:avLst/>
          </a:prstGeom>
          <a:noFill/>
        </p:spPr>
        <p:txBody>
          <a:bodyPr wrap="square">
            <a:spAutoFit/>
          </a:bodyPr>
          <a:lstStyle/>
          <a:p>
            <a:r>
              <a:rPr lang="en-IN" sz="1800" dirty="0"/>
              <a:t>&lt;!DOCTYPE html&gt;</a:t>
            </a:r>
          </a:p>
          <a:p>
            <a:r>
              <a:rPr lang="en-IN" sz="1800" dirty="0"/>
              <a:t>&lt;html&gt;</a:t>
            </a:r>
          </a:p>
          <a:p>
            <a:r>
              <a:rPr lang="en-IN" sz="1800" dirty="0"/>
              <a:t>&lt;body&gt;</a:t>
            </a:r>
          </a:p>
          <a:p>
            <a:endParaRPr lang="en-IN" sz="1800" dirty="0"/>
          </a:p>
          <a:p>
            <a:r>
              <a:rPr lang="en-IN" sz="1800" dirty="0"/>
              <a:t>&lt;h2&gt;Nested Function Example&lt;/h2&gt;</a:t>
            </a:r>
          </a:p>
          <a:p>
            <a:r>
              <a:rPr lang="en-IN" sz="1800" dirty="0"/>
              <a:t>&lt;script&gt;</a:t>
            </a:r>
          </a:p>
          <a:p>
            <a:r>
              <a:rPr lang="en-IN" sz="1800" dirty="0"/>
              <a:t>function </a:t>
            </a:r>
            <a:r>
              <a:rPr lang="en-IN" sz="1800" dirty="0" err="1"/>
              <a:t>outerFunction</a:t>
            </a:r>
            <a:r>
              <a:rPr lang="en-IN" sz="1800" dirty="0"/>
              <a:t>() {</a:t>
            </a:r>
          </a:p>
          <a:p>
            <a:r>
              <a:rPr lang="en-IN" sz="1800" dirty="0"/>
              <a:t>  let name = "Abhishek";</a:t>
            </a:r>
          </a:p>
          <a:p>
            <a:r>
              <a:rPr lang="en-IN" sz="1800" dirty="0"/>
              <a:t>  function </a:t>
            </a:r>
            <a:r>
              <a:rPr lang="en-IN" sz="1800" dirty="0" err="1"/>
              <a:t>innerFunction</a:t>
            </a:r>
            <a:r>
              <a:rPr lang="en-IN" sz="1800" dirty="0"/>
              <a:t>() {</a:t>
            </a:r>
          </a:p>
          <a:p>
            <a:r>
              <a:rPr lang="en-IN" sz="1800" dirty="0"/>
              <a:t>    </a:t>
            </a:r>
            <a:r>
              <a:rPr lang="en-IN" sz="1800" dirty="0" err="1"/>
              <a:t>document.write</a:t>
            </a:r>
            <a:r>
              <a:rPr lang="en-IN" sz="1800" dirty="0"/>
              <a:t>("Welcome " + name);</a:t>
            </a:r>
          </a:p>
          <a:p>
            <a:r>
              <a:rPr lang="en-IN" sz="1800" dirty="0"/>
              <a:t>  }</a:t>
            </a:r>
          </a:p>
          <a:p>
            <a:r>
              <a:rPr lang="en-IN" sz="1800" dirty="0"/>
              <a:t>  </a:t>
            </a:r>
            <a:r>
              <a:rPr lang="en-IN" sz="1800" dirty="0" err="1"/>
              <a:t>innerFunction</a:t>
            </a:r>
            <a:r>
              <a:rPr lang="en-IN" sz="1800" dirty="0"/>
              <a:t>();  // calling inner function</a:t>
            </a:r>
          </a:p>
          <a:p>
            <a:r>
              <a:rPr lang="en-IN" sz="1800" dirty="0"/>
              <a:t>}</a:t>
            </a:r>
          </a:p>
          <a:p>
            <a:r>
              <a:rPr lang="en-IN" sz="1800" dirty="0" err="1"/>
              <a:t>outerFunction</a:t>
            </a:r>
            <a:r>
              <a:rPr lang="en-IN" sz="1800" dirty="0"/>
              <a:t>();   // calling outer function</a:t>
            </a:r>
          </a:p>
          <a:p>
            <a:r>
              <a:rPr lang="en-IN" sz="1800" dirty="0"/>
              <a:t>&lt;/script&gt;</a:t>
            </a:r>
          </a:p>
          <a:p>
            <a:r>
              <a:rPr lang="en-IN" sz="1800" dirty="0"/>
              <a:t>&lt;/body&gt;</a:t>
            </a:r>
          </a:p>
          <a:p>
            <a:r>
              <a:rPr lang="en-IN" sz="1800" dirty="0"/>
              <a:t>&lt;/html&gt;</a:t>
            </a:r>
          </a:p>
        </p:txBody>
      </p:sp>
    </p:spTree>
    <p:extLst>
      <p:ext uri="{BB962C8B-B14F-4D97-AF65-F5344CB8AC3E}">
        <p14:creationId xmlns:p14="http://schemas.microsoft.com/office/powerpoint/2010/main" val="1558723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4" name="TextBox 3"/>
          <p:cNvSpPr txBox="1"/>
          <p:nvPr/>
        </p:nvSpPr>
        <p:spPr>
          <a:xfrm>
            <a:off x="111760" y="1148081"/>
            <a:ext cx="8575040" cy="4093428"/>
          </a:xfrm>
          <a:prstGeom prst="rect">
            <a:avLst/>
          </a:prstGeom>
          <a:noFill/>
        </p:spPr>
        <p:txBody>
          <a:bodyPr wrap="square">
            <a:spAutoFit/>
          </a:bodyPr>
          <a:lstStyle/>
          <a:p>
            <a:pPr algn="just" rtl="0" fontAlgn="base"/>
            <a:r>
              <a:rPr lang="en-US" sz="2000" b="1" i="0" dirty="0">
                <a:solidFill>
                  <a:srgbClr val="273239"/>
                </a:solidFill>
                <a:effectLst/>
                <a:highlight>
                  <a:srgbClr val="FFFFFF"/>
                </a:highlight>
                <a:latin typeface="Nunito" pitchFamily="2" charset="0"/>
              </a:rPr>
              <a:t>Closures in JavaScript</a:t>
            </a:r>
            <a:r>
              <a:rPr lang="en-US" sz="2000" b="0" i="0" dirty="0">
                <a:solidFill>
                  <a:srgbClr val="273239"/>
                </a:solidFill>
                <a:effectLst/>
                <a:highlight>
                  <a:srgbClr val="FFFFFF"/>
                </a:highlight>
                <a:latin typeface="Nunito" pitchFamily="2" charset="0"/>
              </a:rPr>
              <a:t> are functions that retain access to variables from their containing scope even after the parent function has finished executing. They’re useful for maintaining private data, creating modular code, and implementing callback functions with persistent state. In this article, we’ll dive deep into closures, understand how they work, and explore practical examples.</a:t>
            </a:r>
          </a:p>
          <a:p>
            <a:pPr algn="just" rtl="0" fontAlgn="base"/>
            <a:endParaRPr lang="en-US" sz="2000" b="0" i="0" dirty="0">
              <a:solidFill>
                <a:srgbClr val="273239"/>
              </a:solidFill>
              <a:effectLst/>
              <a:highlight>
                <a:srgbClr val="FFFFFF"/>
              </a:highlight>
              <a:latin typeface="Nunito" pitchFamily="2" charset="0"/>
            </a:endParaRPr>
          </a:p>
          <a:p>
            <a:pPr algn="just" fontAlgn="base"/>
            <a:r>
              <a:rPr lang="en-US" sz="2000" b="1" i="0" dirty="0">
                <a:solidFill>
                  <a:srgbClr val="273239"/>
                </a:solidFill>
                <a:effectLst/>
                <a:highlight>
                  <a:srgbClr val="FFFFFF"/>
                </a:highlight>
                <a:latin typeface="Nunito" pitchFamily="2" charset="0"/>
              </a:rPr>
              <a:t>What is a Closure?</a:t>
            </a:r>
          </a:p>
          <a:p>
            <a:pPr algn="just" rtl="0" fontAlgn="base"/>
            <a:r>
              <a:rPr lang="en-US" sz="2000" b="0" i="0" dirty="0">
                <a:solidFill>
                  <a:srgbClr val="273239"/>
                </a:solidFill>
                <a:effectLst/>
                <a:highlight>
                  <a:srgbClr val="FFFFFF"/>
                </a:highlight>
                <a:latin typeface="Nunito" pitchFamily="2" charset="0"/>
              </a:rPr>
              <a:t>A </a:t>
            </a:r>
            <a:r>
              <a:rPr lang="en-US" sz="2000" b="1" i="0" dirty="0">
                <a:solidFill>
                  <a:srgbClr val="273239"/>
                </a:solidFill>
                <a:effectLst/>
                <a:highlight>
                  <a:srgbClr val="FFFFFF"/>
                </a:highlight>
                <a:latin typeface="Nunito" pitchFamily="2" charset="0"/>
              </a:rPr>
              <a:t>closure</a:t>
            </a:r>
            <a:r>
              <a:rPr lang="en-US" sz="2000" b="0" i="0" dirty="0">
                <a:solidFill>
                  <a:srgbClr val="273239"/>
                </a:solidFill>
                <a:effectLst/>
                <a:highlight>
                  <a:srgbClr val="FFFFFF"/>
                </a:highlight>
                <a:latin typeface="Nunito" pitchFamily="2" charset="0"/>
              </a:rPr>
              <a:t> is the combination of a function bundled together (enclosed) with references to its surrounding state (the lexical environment). When you create a closure, you gain access to an outer function’s scope from an inner function. Closures are automatically created every time a function is defined in JavaScript.</a:t>
            </a:r>
          </a:p>
        </p:txBody>
      </p:sp>
      <p:sp>
        <p:nvSpPr>
          <p:cNvPr id="6" name="TextBox 5"/>
          <p:cNvSpPr txBox="1"/>
          <p:nvPr/>
        </p:nvSpPr>
        <p:spPr>
          <a:xfrm>
            <a:off x="772160" y="125512"/>
            <a:ext cx="4572000" cy="584775"/>
          </a:xfrm>
          <a:prstGeom prst="rect">
            <a:avLst/>
          </a:prstGeom>
          <a:noFill/>
        </p:spPr>
        <p:txBody>
          <a:bodyPr wrap="square">
            <a:spAutoFit/>
          </a:bodyPr>
          <a:lstStyle/>
          <a:p>
            <a:r>
              <a:rPr lang="en-US" sz="3200" b="1" i="0" dirty="0">
                <a:solidFill>
                  <a:srgbClr val="273239"/>
                </a:solidFill>
                <a:effectLst/>
                <a:latin typeface="Nunito" pitchFamily="2" charset="0"/>
              </a:rPr>
              <a:t>Closures in JavaScript</a:t>
            </a:r>
            <a:r>
              <a:rPr lang="en-US" sz="3200" b="0" i="0" dirty="0">
                <a:solidFill>
                  <a:srgbClr val="273239"/>
                </a:solidFill>
                <a:effectLst/>
                <a:latin typeface="Nunito" pitchFamily="2" charset="0"/>
              </a:rPr>
              <a:t> </a:t>
            </a:r>
            <a:endParaRPr lang="en-IN"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3531186782"/>
              </p:ext>
            </p:extLst>
          </p:nvPr>
        </p:nvGraphicFramePr>
        <p:xfrm>
          <a:off x="142240" y="1021080"/>
          <a:ext cx="8544560" cy="5882640"/>
        </p:xfrm>
        <a:graphic>
          <a:graphicData uri="http://schemas.openxmlformats.org/drawingml/2006/table">
            <a:tbl>
              <a:tblPr firstRow="1" bandRow="1">
                <a:tableStyleId>{BD24CE57-81FB-4CE5-B3F0-45E823DBC81C}</a:tableStyleId>
              </a:tblPr>
              <a:tblGrid>
                <a:gridCol w="4126818">
                  <a:extLst>
                    <a:ext uri="{9D8B030D-6E8A-4147-A177-3AD203B41FA5}">
                      <a16:colId xmlns:a16="http://schemas.microsoft.com/office/drawing/2014/main" val="20000"/>
                    </a:ext>
                  </a:extLst>
                </a:gridCol>
                <a:gridCol w="4417742">
                  <a:extLst>
                    <a:ext uri="{9D8B030D-6E8A-4147-A177-3AD203B41FA5}">
                      <a16:colId xmlns:a16="http://schemas.microsoft.com/office/drawing/2014/main" val="20001"/>
                    </a:ext>
                  </a:extLst>
                </a:gridCol>
              </a:tblGrid>
              <a:tr h="5662097">
                <a:tc>
                  <a:txBody>
                    <a:bodyPr/>
                    <a:lstStyle/>
                    <a:p>
                      <a:pPr algn="just" fontAlgn="base"/>
                      <a:r>
                        <a:rPr lang="en-US" sz="2000" b="1"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Lexical Scoping</a:t>
                      </a:r>
                    </a:p>
                    <a:p>
                      <a:pPr algn="just" rtl="0" fontAlgn="base"/>
                      <a:r>
                        <a:rPr lang="en-US" sz="20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Lexical scoping refers to how a parser resolves variable names when functions are nested. The location where a variable is declared within the source code determines where that variable is available. Nested functions have access to variables declared in their outer scope.  In easy words, </a:t>
                      </a:r>
                      <a:r>
                        <a:rPr lang="en-GB" sz="20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function can access variables based on where it is written in the code, not where it is called.</a:t>
                      </a:r>
                      <a:r>
                        <a:rPr lang="en-US" sz="20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 </a:t>
                      </a:r>
                    </a:p>
                    <a:p>
                      <a:pPr algn="just" rtl="0" fontAlgn="base"/>
                      <a:endParaRPr lang="en-US" sz="20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endParaRPr>
                    </a:p>
                    <a:p>
                      <a:pPr algn="just"/>
                      <a:endParaRPr lang="en-IN" sz="2000" dirty="0"/>
                    </a:p>
                  </a:txBody>
                  <a:tcPr/>
                </a:tc>
                <a:tc>
                  <a:txBody>
                    <a:bodyPr/>
                    <a:lstStyle/>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&lt;!DOCTYPE html&gt;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&lt;html&gt;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&lt;body&gt;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&lt;h2&gt;Lexical Scoping Example&lt;/h2&gt;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&lt;script&gt;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let x = 10;</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function outer() {</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  let y = 20;</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  function inner() {</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    </a:t>
                      </a:r>
                      <a:r>
                        <a:rPr lang="en-IN" sz="2000" dirty="0" err="1"/>
                        <a:t>document.write</a:t>
                      </a:r>
                      <a:r>
                        <a:rPr lang="en-IN" sz="2000" dirty="0"/>
                        <a:t>(x + " " + y);</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  }</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  inner();</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outer();</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&lt;/script&gt;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&lt;/body&gt;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2000" dirty="0"/>
                        <a:t>&lt;/html&gt;</a:t>
                      </a:r>
                    </a:p>
                    <a:p>
                      <a:pPr marL="18288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lang="en-IN" sz="2000" dirty="0"/>
                    </a:p>
                  </a:txBody>
                  <a:tcPr/>
                </a:tc>
                <a:extLst>
                  <a:ext uri="{0D108BD9-81ED-4DB2-BD59-A6C34878D82A}">
                    <a16:rowId xmlns:a16="http://schemas.microsoft.com/office/drawing/2014/main" val="10000"/>
                  </a:ext>
                </a:extLst>
              </a:tr>
            </a:tbl>
          </a:graphicData>
        </a:graphic>
      </p:graphicFrame>
      <p:sp>
        <p:nvSpPr>
          <p:cNvPr id="5" name="TextBox 4"/>
          <p:cNvSpPr txBox="1"/>
          <p:nvPr/>
        </p:nvSpPr>
        <p:spPr>
          <a:xfrm>
            <a:off x="426720" y="174823"/>
            <a:ext cx="4572000" cy="523220"/>
          </a:xfrm>
          <a:prstGeom prst="rect">
            <a:avLst/>
          </a:prstGeom>
          <a:noFill/>
        </p:spPr>
        <p:txBody>
          <a:bodyPr wrap="square">
            <a:spAutoFit/>
          </a:bodyPr>
          <a:lstStyle/>
          <a:p>
            <a:pPr algn="just" fontAlgn="base"/>
            <a:r>
              <a:rPr lang="en-US" sz="2800" b="1"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Lexical Scoping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5" name="TextBox 4"/>
          <p:cNvSpPr txBox="1"/>
          <p:nvPr/>
        </p:nvSpPr>
        <p:spPr>
          <a:xfrm>
            <a:off x="182880" y="1184107"/>
            <a:ext cx="8686800" cy="1200329"/>
          </a:xfrm>
          <a:prstGeom prst="rect">
            <a:avLst/>
          </a:prstGeom>
          <a:noFill/>
        </p:spPr>
        <p:txBody>
          <a:bodyPr wrap="square">
            <a:spAutoFit/>
          </a:bodyPr>
          <a:lstStyle/>
          <a:p>
            <a:r>
              <a:rPr lang="en-US" sz="2400" b="1" dirty="0"/>
              <a:t>let</a:t>
            </a:r>
          </a:p>
          <a:p>
            <a:r>
              <a:rPr lang="en-US" sz="2400" dirty="0"/>
              <a:t>The let declaration declares re-assignable, block-scoped local variables, optionally initializing each to a value.</a:t>
            </a:r>
            <a:endParaRPr lang="en-IN" sz="2400" dirty="0"/>
          </a:p>
        </p:txBody>
      </p:sp>
      <p:sp>
        <p:nvSpPr>
          <p:cNvPr id="7" name="TextBox 6"/>
          <p:cNvSpPr txBox="1"/>
          <p:nvPr/>
        </p:nvSpPr>
        <p:spPr>
          <a:xfrm>
            <a:off x="182880" y="2557790"/>
            <a:ext cx="4572000" cy="1420325"/>
          </a:xfrm>
          <a:prstGeom prst="rect">
            <a:avLst/>
          </a:prstGeom>
          <a:noFill/>
        </p:spPr>
        <p:txBody>
          <a:bodyPr wrap="square">
            <a:spAutoFit/>
          </a:bodyPr>
          <a:lstStyle/>
          <a:p>
            <a:pPr>
              <a:lnSpc>
                <a:spcPct val="150000"/>
              </a:lnSpc>
            </a:pPr>
            <a:r>
              <a:rPr lang="en-US" sz="2000" dirty="0">
                <a:highlight>
                  <a:srgbClr val="FFFF00"/>
                </a:highlight>
              </a:rPr>
              <a:t>let x = 1;if (x === 1) {  let x = 2;  console.log(x);  // Expected output: 2}console.log(x);// Expected output: 1</a:t>
            </a:r>
            <a:endParaRPr lang="en-IN" sz="2000" dirty="0">
              <a:highlight>
                <a:srgbClr val="FFFF00"/>
              </a:highlight>
            </a:endParaRPr>
          </a:p>
        </p:txBody>
      </p:sp>
      <p:sp>
        <p:nvSpPr>
          <p:cNvPr id="11" name="TextBox 10"/>
          <p:cNvSpPr txBox="1"/>
          <p:nvPr/>
        </p:nvSpPr>
        <p:spPr>
          <a:xfrm>
            <a:off x="396240" y="5150673"/>
            <a:ext cx="4572000" cy="954107"/>
          </a:xfrm>
          <a:prstGeom prst="rect">
            <a:avLst/>
          </a:prstGeom>
          <a:noFill/>
        </p:spPr>
        <p:txBody>
          <a:bodyPr wrap="square">
            <a:spAutoFit/>
          </a:bodyPr>
          <a:lstStyle/>
          <a:p>
            <a:r>
              <a:rPr lang="en-IN" b="1" dirty="0"/>
              <a:t>OUTPUT:</a:t>
            </a:r>
          </a:p>
          <a:p>
            <a:endParaRPr lang="en-IN" dirty="0"/>
          </a:p>
          <a:p>
            <a:r>
              <a:rPr lang="en-IN" dirty="0"/>
              <a:t>&gt; 2</a:t>
            </a:r>
          </a:p>
          <a:p>
            <a:r>
              <a:rPr lang="en-IN" dirty="0"/>
              <a:t>&gt; 1</a:t>
            </a:r>
          </a:p>
        </p:txBody>
      </p:sp>
      <p:sp>
        <p:nvSpPr>
          <p:cNvPr id="13" name="TextBox 12"/>
          <p:cNvSpPr txBox="1"/>
          <p:nvPr/>
        </p:nvSpPr>
        <p:spPr>
          <a:xfrm>
            <a:off x="701040" y="106889"/>
            <a:ext cx="4572000" cy="646331"/>
          </a:xfrm>
          <a:prstGeom prst="rect">
            <a:avLst/>
          </a:prstGeom>
          <a:noFill/>
        </p:spPr>
        <p:txBody>
          <a:bodyPr wrap="square">
            <a:spAutoFit/>
          </a:bodyPr>
          <a:lstStyle/>
          <a:p>
            <a:r>
              <a:rPr lang="en-US" sz="3600" b="1" dirty="0"/>
              <a:t>let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5" name="TextBox 4"/>
          <p:cNvSpPr txBox="1"/>
          <p:nvPr/>
        </p:nvSpPr>
        <p:spPr>
          <a:xfrm>
            <a:off x="365760" y="946258"/>
            <a:ext cx="8321040" cy="2000548"/>
          </a:xfrm>
          <a:prstGeom prst="rect">
            <a:avLst/>
          </a:prstGeom>
          <a:noFill/>
        </p:spPr>
        <p:txBody>
          <a:bodyPr wrap="square">
            <a:spAutoFit/>
          </a:bodyPr>
          <a:lstStyle/>
          <a:p>
            <a:pPr algn="just"/>
            <a:r>
              <a:rPr lang="en-US" sz="2400" b="1" dirty="0"/>
              <a:t>const</a:t>
            </a:r>
          </a:p>
          <a:p>
            <a:pPr algn="just"/>
            <a:r>
              <a:rPr lang="en-US" sz="2000" dirty="0"/>
              <a:t>The const declaration declares block-scoped local variables. The value of a constant can't be changed through reassignment using the assignment operator, but if a constant is an object, its properties can be added, updated, or removed.</a:t>
            </a:r>
          </a:p>
          <a:p>
            <a:pPr algn="just"/>
            <a:r>
              <a:rPr lang="en-US" sz="2000" dirty="0"/>
              <a:t>Example:</a:t>
            </a:r>
            <a:endParaRPr lang="en-IN" sz="2000" dirty="0"/>
          </a:p>
        </p:txBody>
      </p:sp>
      <p:sp>
        <p:nvSpPr>
          <p:cNvPr id="7" name="TextBox 6"/>
          <p:cNvSpPr txBox="1"/>
          <p:nvPr/>
        </p:nvSpPr>
        <p:spPr>
          <a:xfrm>
            <a:off x="528320" y="166152"/>
            <a:ext cx="4572000" cy="523220"/>
          </a:xfrm>
          <a:prstGeom prst="rect">
            <a:avLst/>
          </a:prstGeom>
          <a:noFill/>
        </p:spPr>
        <p:txBody>
          <a:bodyPr wrap="square">
            <a:spAutoFit/>
          </a:bodyPr>
          <a:lstStyle/>
          <a:p>
            <a:r>
              <a:rPr lang="en-US" sz="2800" b="1" dirty="0"/>
              <a:t>const</a:t>
            </a:r>
          </a:p>
        </p:txBody>
      </p:sp>
      <p:sp>
        <p:nvSpPr>
          <p:cNvPr id="9" name="TextBox 8"/>
          <p:cNvSpPr txBox="1"/>
          <p:nvPr/>
        </p:nvSpPr>
        <p:spPr>
          <a:xfrm>
            <a:off x="365760" y="3007937"/>
            <a:ext cx="7396480" cy="2949525"/>
          </a:xfrm>
          <a:prstGeom prst="rect">
            <a:avLst/>
          </a:prstGeom>
          <a:solidFill>
            <a:schemeClr val="accent2">
              <a:lumMod val="20000"/>
              <a:lumOff val="80000"/>
            </a:schemeClr>
          </a:solidFill>
          <a:ln w="12700">
            <a:solidFill>
              <a:schemeClr val="tx1"/>
            </a:solidFill>
          </a:ln>
        </p:spPr>
        <p:txBody>
          <a:bodyPr wrap="square">
            <a:spAutoFit/>
          </a:bodyPr>
          <a:lstStyle/>
          <a:p>
            <a:pPr>
              <a:lnSpc>
                <a:spcPct val="150000"/>
              </a:lnSpc>
            </a:pPr>
            <a:r>
              <a:rPr lang="en-IN" sz="1800" b="1" i="1" dirty="0" err="1"/>
              <a:t>const</a:t>
            </a:r>
            <a:r>
              <a:rPr lang="en-IN" sz="1800" b="1" i="1" dirty="0"/>
              <a:t> number = 42;</a:t>
            </a:r>
          </a:p>
          <a:p>
            <a:pPr>
              <a:lnSpc>
                <a:spcPct val="150000"/>
              </a:lnSpc>
            </a:pPr>
            <a:r>
              <a:rPr lang="en-IN" sz="1800" b="1" i="1" dirty="0"/>
              <a:t>try {  number = 99;} </a:t>
            </a:r>
          </a:p>
          <a:p>
            <a:pPr>
              <a:lnSpc>
                <a:spcPct val="150000"/>
              </a:lnSpc>
            </a:pPr>
            <a:r>
              <a:rPr lang="en-IN" sz="1800" b="1" i="1" dirty="0"/>
              <a:t>catch (err) {  console.log(err);  </a:t>
            </a:r>
          </a:p>
          <a:p>
            <a:pPr>
              <a:lnSpc>
                <a:spcPct val="150000"/>
              </a:lnSpc>
            </a:pPr>
            <a:r>
              <a:rPr lang="en-IN" sz="1800" i="1" dirty="0"/>
              <a:t>// Expected output: </a:t>
            </a:r>
            <a:r>
              <a:rPr lang="en-IN" sz="1800" i="1" dirty="0" err="1"/>
              <a:t>TypeError</a:t>
            </a:r>
            <a:r>
              <a:rPr lang="en-IN" sz="1800" i="1" dirty="0"/>
              <a:t>: invalid assignment to </a:t>
            </a:r>
            <a:r>
              <a:rPr lang="en-IN" sz="1800" i="1" dirty="0" err="1"/>
              <a:t>const</a:t>
            </a:r>
            <a:r>
              <a:rPr lang="en-IN" sz="1800" i="1" dirty="0"/>
              <a:t> 'number'  // (Note: the exact output may be browser-dependent)</a:t>
            </a:r>
          </a:p>
          <a:p>
            <a:pPr>
              <a:lnSpc>
                <a:spcPct val="150000"/>
              </a:lnSpc>
            </a:pPr>
            <a:r>
              <a:rPr lang="en-IN" sz="1800" b="1" i="1" dirty="0"/>
              <a:t>}</a:t>
            </a:r>
          </a:p>
          <a:p>
            <a:pPr>
              <a:lnSpc>
                <a:spcPct val="150000"/>
              </a:lnSpc>
            </a:pPr>
            <a:r>
              <a:rPr lang="en-IN" sz="1800" b="1" i="1" dirty="0"/>
              <a:t>console.log(number);</a:t>
            </a:r>
            <a:r>
              <a:rPr lang="en-IN" sz="1800" i="1" dirty="0"/>
              <a:t>// Expected output: 42</a:t>
            </a:r>
          </a:p>
        </p:txBody>
      </p:sp>
      <p:sp>
        <p:nvSpPr>
          <p:cNvPr id="11" name="TextBox 10"/>
          <p:cNvSpPr txBox="1"/>
          <p:nvPr/>
        </p:nvSpPr>
        <p:spPr>
          <a:xfrm>
            <a:off x="5201920" y="5679853"/>
            <a:ext cx="3942080" cy="954107"/>
          </a:xfrm>
          <a:prstGeom prst="rect">
            <a:avLst/>
          </a:prstGeom>
          <a:solidFill>
            <a:schemeClr val="bg2">
              <a:lumMod val="20000"/>
              <a:lumOff val="80000"/>
            </a:schemeClr>
          </a:solidFill>
          <a:ln w="12700">
            <a:solidFill>
              <a:schemeClr val="tx1"/>
            </a:solidFill>
          </a:ln>
        </p:spPr>
        <p:txBody>
          <a:bodyPr wrap="square">
            <a:spAutoFit/>
          </a:bodyPr>
          <a:lstStyle/>
          <a:p>
            <a:r>
              <a:rPr lang="en-US" b="1" dirty="0"/>
              <a:t>OUTPUT:</a:t>
            </a:r>
          </a:p>
          <a:p>
            <a:endParaRPr lang="en-US" dirty="0"/>
          </a:p>
          <a:p>
            <a:r>
              <a:rPr lang="en-US" dirty="0"/>
              <a:t>&gt; </a:t>
            </a:r>
            <a:r>
              <a:rPr lang="en-US" dirty="0" err="1"/>
              <a:t>TypeError</a:t>
            </a:r>
            <a:r>
              <a:rPr lang="en-US" dirty="0"/>
              <a:t>: Assignment to constant variable.</a:t>
            </a:r>
          </a:p>
          <a:p>
            <a:r>
              <a:rPr lang="en-US" dirty="0"/>
              <a:t>&gt; 42</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5" name="TextBox 4"/>
          <p:cNvSpPr txBox="1"/>
          <p:nvPr/>
        </p:nvSpPr>
        <p:spPr>
          <a:xfrm>
            <a:off x="281836" y="1230248"/>
            <a:ext cx="8404964" cy="1631216"/>
          </a:xfrm>
          <a:prstGeom prst="rect">
            <a:avLst/>
          </a:prstGeom>
          <a:noFill/>
        </p:spPr>
        <p:txBody>
          <a:bodyPr wrap="square">
            <a:spAutoFit/>
          </a:bodyPr>
          <a:lstStyle/>
          <a:p>
            <a:pPr algn="just"/>
            <a:r>
              <a:rPr lang="en-US" sz="2000" dirty="0"/>
              <a:t>In JavaScript, the </a:t>
            </a:r>
            <a:r>
              <a:rPr lang="en-US" sz="2000" b="1" i="1" dirty="0"/>
              <a:t>let</a:t>
            </a:r>
            <a:r>
              <a:rPr lang="en-US" sz="2000" dirty="0"/>
              <a:t> keyword plays an essential role in creating block-scoped variables. When used in a </a:t>
            </a:r>
            <a:r>
              <a:rPr lang="en-US" sz="2000" b="1" i="1" dirty="0"/>
              <a:t>for</a:t>
            </a:r>
            <a:r>
              <a:rPr lang="en-US" sz="2000" dirty="0"/>
              <a:t> loop,</a:t>
            </a:r>
            <a:r>
              <a:rPr lang="en-US" sz="2000" b="1" i="1" dirty="0"/>
              <a:t> let </a:t>
            </a:r>
            <a:r>
              <a:rPr lang="en-US" sz="2000" dirty="0"/>
              <a:t>ensures that each iteration of the loop has its own distinct instance of the loop variable. This behavior is particularly useful when working with asynchronous code, such as </a:t>
            </a:r>
            <a:r>
              <a:rPr lang="en-US" sz="2000" b="1" i="1" dirty="0" err="1"/>
              <a:t>setTimeout</a:t>
            </a:r>
            <a:r>
              <a:rPr lang="en-US" sz="2000" b="1" i="1" dirty="0"/>
              <a:t> </a:t>
            </a:r>
            <a:r>
              <a:rPr lang="en-US" sz="2000" dirty="0"/>
              <a:t>or promises, within a loop.</a:t>
            </a:r>
            <a:endParaRPr lang="en-IN"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4" name="TextBox 3"/>
          <p:cNvSpPr txBox="1"/>
          <p:nvPr/>
        </p:nvSpPr>
        <p:spPr>
          <a:xfrm>
            <a:off x="152400" y="1056640"/>
            <a:ext cx="8686800" cy="3476625"/>
          </a:xfrm>
          <a:prstGeom prst="rect">
            <a:avLst/>
          </a:prstGeom>
          <a:noFill/>
        </p:spPr>
        <p:txBody>
          <a:bodyPr wrap="square">
            <a:spAutoFit/>
          </a:bodyPr>
          <a:lstStyle/>
          <a:p>
            <a:pPr algn="just" fontAlgn="base"/>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In JavaScript function binding happens using the </a:t>
            </a:r>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Bind()</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method. With this method, we can bind an object to a common function, so that the function gives different results when needed. otherwise, it gives the same result or gives an error while the code is executing. We use the </a:t>
            </a:r>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Bind()</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method to call a function with ‘</a:t>
            </a:r>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this’</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value.</a:t>
            </a:r>
          </a:p>
          <a:p>
            <a:pPr algn="just" fontAlgn="base"/>
            <a:endPar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just" fontAlgn="base"/>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What is ‘this’?</a:t>
            </a:r>
          </a:p>
          <a:p>
            <a:pPr algn="just" rtl="0" fontAlgn="base"/>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‘this’ refers to the object it belongs to. The exact value of ‘this’ depends on how a function is called. In a method, ‘this’ represents the object that the method was called on, while in a regular function, it typically refers to the global object (in the case of browser environments, it’s the ‘window’ object).</a:t>
            </a:r>
          </a:p>
          <a:p>
            <a:pPr algn="just" rtl="0" fontAlgn="base"/>
            <a:endPar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p:txBody>
      </p:sp>
      <p:sp>
        <p:nvSpPr>
          <p:cNvPr id="6" name="TextBox 5"/>
          <p:cNvSpPr txBox="1"/>
          <p:nvPr/>
        </p:nvSpPr>
        <p:spPr>
          <a:xfrm>
            <a:off x="152400" y="156210"/>
            <a:ext cx="6983730" cy="583565"/>
          </a:xfrm>
          <a:prstGeom prst="rect">
            <a:avLst/>
          </a:prstGeom>
          <a:noFill/>
        </p:spPr>
        <p:txBody>
          <a:bodyPr wrap="square">
            <a:spAutoFit/>
          </a:bodyPr>
          <a:lstStyle/>
          <a:p>
            <a:pPr algn="l" fontAlgn="base"/>
            <a:r>
              <a:rPr lang="en-US" sz="3200" b="1" i="0" dirty="0">
                <a:solidFill>
                  <a:srgbClr val="273239"/>
                </a:solidFill>
                <a:effectLst/>
                <a:latin typeface="Times New Roman" panose="02020603050405020304" pitchFamily="18" charset="0"/>
                <a:cs typeface="Times New Roman" panose="02020603050405020304" pitchFamily="18" charset="0"/>
              </a:rPr>
              <a:t>JavaScript Function binding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4" name="TextBox 3"/>
          <p:cNvSpPr txBox="1"/>
          <p:nvPr/>
        </p:nvSpPr>
        <p:spPr>
          <a:xfrm>
            <a:off x="264160" y="1139428"/>
            <a:ext cx="8666480" cy="706755"/>
          </a:xfrm>
          <a:prstGeom prst="rect">
            <a:avLst/>
          </a:prstGeom>
          <a:noFill/>
        </p:spPr>
        <p:txBody>
          <a:bodyPr wrap="square">
            <a:spAutoFit/>
          </a:bodyPr>
          <a:lstStyle/>
          <a:p>
            <a:pPr algn="just" rtl="0" fontAlgn="base"/>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Example 1:</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In this example, </a:t>
            </a:r>
            <a:r>
              <a:rPr lang="en-US" sz="2000" b="0" i="1" dirty="0">
                <a:solidFill>
                  <a:srgbClr val="273239"/>
                </a:solidFill>
                <a:effectLst/>
                <a:highlight>
                  <a:srgbClr val="FFFFFF"/>
                </a:highlight>
                <a:latin typeface="Times New Roman" panose="02020603050405020304" pitchFamily="18" charset="0"/>
                <a:cs typeface="Times New Roman" panose="02020603050405020304" pitchFamily="18" charset="0"/>
              </a:rPr>
              <a:t>this</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keyword binds the </a:t>
            </a:r>
            <a:r>
              <a:rPr lang="en-US" sz="2000" b="0" i="1" dirty="0">
                <a:solidFill>
                  <a:srgbClr val="273239"/>
                </a:solidFill>
                <a:effectLst/>
                <a:highlight>
                  <a:srgbClr val="FFFFFF"/>
                </a:highlight>
                <a:latin typeface="Times New Roman" panose="02020603050405020304" pitchFamily="18" charset="0"/>
                <a:cs typeface="Times New Roman" panose="02020603050405020304" pitchFamily="18" charset="0"/>
              </a:rPr>
              <a:t>name</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variable to the function. It is known as default binding. </a:t>
            </a:r>
            <a:r>
              <a:rPr lang="en-US" sz="2000" b="0" i="1" dirty="0">
                <a:solidFill>
                  <a:srgbClr val="273239"/>
                </a:solidFill>
                <a:effectLst/>
                <a:highlight>
                  <a:srgbClr val="FFFFFF"/>
                </a:highlight>
                <a:latin typeface="Times New Roman" panose="02020603050405020304" pitchFamily="18" charset="0"/>
                <a:cs typeface="Times New Roman" panose="02020603050405020304" pitchFamily="18" charset="0"/>
              </a:rPr>
              <a:t>this</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keyword refers to </a:t>
            </a:r>
            <a:r>
              <a:rPr lang="en-US" sz="2000" b="1" i="0" dirty="0">
                <a:solidFill>
                  <a:srgbClr val="273239"/>
                </a:solidFill>
                <a:effectLst/>
                <a:highlight>
                  <a:srgbClr val="FFFFFF"/>
                </a:highlight>
                <a:latin typeface="Times New Roman" panose="02020603050405020304" pitchFamily="18" charset="0"/>
                <a:cs typeface="Times New Roman" panose="02020603050405020304" pitchFamily="18" charset="0"/>
              </a:rPr>
              <a:t>geeks</a:t>
            </a:r>
            <a:r>
              <a:rPr lang="en-US" sz="2000" b="0" i="0" dirty="0">
                <a:solidFill>
                  <a:srgbClr val="273239"/>
                </a:solidFill>
                <a:effectLst/>
                <a:highlight>
                  <a:srgbClr val="FFFFFF"/>
                </a:highlight>
                <a:latin typeface="Times New Roman" panose="02020603050405020304" pitchFamily="18" charset="0"/>
                <a:cs typeface="Times New Roman" panose="02020603050405020304" pitchFamily="18" charset="0"/>
              </a:rPr>
              <a:t> object.</a:t>
            </a:r>
          </a:p>
        </p:txBody>
      </p:sp>
      <p:sp>
        <p:nvSpPr>
          <p:cNvPr id="6" name="TextBox 5"/>
          <p:cNvSpPr txBox="1"/>
          <p:nvPr/>
        </p:nvSpPr>
        <p:spPr>
          <a:xfrm>
            <a:off x="2286000" y="2541379"/>
            <a:ext cx="4572000" cy="1815882"/>
          </a:xfrm>
          <a:prstGeom prst="rect">
            <a:avLst/>
          </a:prstGeom>
          <a:solidFill>
            <a:schemeClr val="accent1">
              <a:lumMod val="20000"/>
              <a:lumOff val="80000"/>
            </a:schemeClr>
          </a:solidFill>
          <a:ln w="12700">
            <a:solidFill>
              <a:schemeClr val="tx1"/>
            </a:solidFill>
          </a:ln>
        </p:spPr>
        <p:txBody>
          <a:bodyPr wrap="square">
            <a:spAutoFit/>
          </a:bodyPr>
          <a:lstStyle/>
          <a:p>
            <a:r>
              <a:rPr lang="en-IN" dirty="0"/>
              <a:t>let geeks = {</a:t>
            </a:r>
          </a:p>
          <a:p>
            <a:r>
              <a:rPr lang="en-IN" dirty="0"/>
              <a:t>	name: "ABC",</a:t>
            </a:r>
          </a:p>
          <a:p>
            <a:r>
              <a:rPr lang="en-IN" dirty="0"/>
              <a:t>	</a:t>
            </a:r>
            <a:r>
              <a:rPr lang="en-IN" dirty="0" err="1"/>
              <a:t>printFunc</a:t>
            </a:r>
            <a:r>
              <a:rPr lang="en-IN" dirty="0"/>
              <a:t>: function () {</a:t>
            </a:r>
          </a:p>
          <a:p>
            <a:r>
              <a:rPr lang="en-IN" dirty="0"/>
              <a:t>		console.log(this.name);</a:t>
            </a:r>
          </a:p>
          <a:p>
            <a:r>
              <a:rPr lang="en-IN" dirty="0"/>
              <a:t>	}</a:t>
            </a:r>
          </a:p>
          <a:p>
            <a:r>
              <a:rPr lang="en-IN" dirty="0"/>
              <a:t>}</a:t>
            </a:r>
          </a:p>
          <a:p>
            <a:endParaRPr lang="en-IN" dirty="0"/>
          </a:p>
          <a:p>
            <a:r>
              <a:rPr lang="en-IN" dirty="0" err="1"/>
              <a:t>geeks.printFunc</a:t>
            </a:r>
            <a:r>
              <a:rPr lang="en-IN" dirty="0"/>
              <a:t>();</a:t>
            </a:r>
          </a:p>
        </p:txBody>
      </p:sp>
      <p:sp>
        <p:nvSpPr>
          <p:cNvPr id="7" name="Rectangle 1"/>
          <p:cNvSpPr>
            <a:spLocks noChangeArrowheads="1"/>
          </p:cNvSpPr>
          <p:nvPr/>
        </p:nvSpPr>
        <p:spPr bwMode="auto">
          <a:xfrm>
            <a:off x="2286000" y="5051326"/>
            <a:ext cx="2641600" cy="371876"/>
          </a:xfrm>
          <a:prstGeom prst="rect">
            <a:avLst/>
          </a:prstGeom>
          <a:solidFill>
            <a:srgbClr val="E0E0E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rgbClr val="273239"/>
                </a:solidFill>
                <a:effectLst/>
                <a:latin typeface="Nunito" pitchFamily="2" charset="0"/>
              </a:rPr>
              <a:t>Output:  </a:t>
            </a:r>
            <a:r>
              <a:rPr kumimoji="0" lang="en-US" altLang="en-US" sz="2000" b="0" i="0" u="none" strike="noStrike" cap="none" normalizeH="0" baseline="0" dirty="0">
                <a:ln>
                  <a:noFill/>
                </a:ln>
                <a:solidFill>
                  <a:schemeClr val="tx1"/>
                </a:solidFill>
                <a:effectLst/>
                <a:latin typeface="Consolas" panose="020B0609020204030204" pitchFamily="49" charset="0"/>
              </a:rPr>
              <a:t>ABC</a:t>
            </a:r>
            <a:r>
              <a:rPr kumimoji="0" lang="en-US" altLang="en-US" sz="10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19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4" name="Rectangle 3"/>
          <p:cNvSpPr/>
          <p:nvPr/>
        </p:nvSpPr>
        <p:spPr>
          <a:xfrm>
            <a:off x="2435634" y="2388215"/>
            <a:ext cx="3724096" cy="923330"/>
          </a:xfrm>
          <a:prstGeom prst="rect">
            <a:avLst/>
          </a:prstGeom>
          <a:noFill/>
        </p:spPr>
        <p:txBody>
          <a:bodyPr wrap="none" lIns="91440" tIns="45720" rIns="91440" bIns="45720">
            <a:spAutoFit/>
          </a:bodyPr>
          <a:lstStyle/>
          <a:p>
            <a:pPr algn="ctr"/>
            <a:r>
              <a:rPr lang="en-US" sz="5400"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Thank</a:t>
            </a:r>
            <a:r>
              <a:rPr lang="en-US" sz="5400" b="1" cap="none" spc="0" dirty="0">
                <a:ln w="22225">
                  <a:solidFill>
                    <a:schemeClr val="accent2"/>
                  </a:solidFill>
                  <a:prstDash val="solid"/>
                </a:ln>
                <a:solidFill>
                  <a:schemeClr val="accent2">
                    <a:lumMod val="40000"/>
                    <a:lumOff val="60000"/>
                  </a:schemeClr>
                </a:solidFill>
                <a:effectLst/>
              </a:rPr>
              <a:t> </a:t>
            </a:r>
            <a:r>
              <a:rPr lang="en-US" sz="5400" b="1" dirty="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You</a:t>
            </a:r>
            <a:endParaRPr lang="en-US" sz="5400" b="1" cap="none" spc="0" dirty="0">
              <a:ln w="22225">
                <a:solidFill>
                  <a:schemeClr val="accent2"/>
                </a:solidFill>
                <a:prstDash val="solid"/>
              </a:ln>
              <a:solidFill>
                <a:schemeClr val="accent2">
                  <a:lumMod val="40000"/>
                  <a:lumOff val="60000"/>
                </a:schemeClr>
              </a:solidFill>
              <a:effectL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2487</Words>
  <Application>Microsoft Office PowerPoint</Application>
  <PresentationFormat>On-screen Show (4:3)</PresentationFormat>
  <Paragraphs>423</Paragraphs>
  <Slides>31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Consolas</vt:lpstr>
      <vt:lpstr>Verdana</vt:lpstr>
      <vt:lpstr>Times New Roman</vt:lpstr>
      <vt:lpstr>Arial</vt:lpstr>
      <vt:lpstr>Calibri</vt:lpstr>
      <vt:lpstr>Nunito</vt:lpstr>
      <vt:lpstr>Office Theme</vt:lpstr>
      <vt:lpstr>PowerPoint Presentation</vt:lpstr>
      <vt:lpstr>Functions in JavaScript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ABC</dc:creator>
  <cp:lastModifiedBy>Surbhi _B</cp:lastModifiedBy>
  <cp:revision>126</cp:revision>
  <dcterms:created xsi:type="dcterms:W3CDTF">2010-04-09T07:36:00Z</dcterms:created>
  <dcterms:modified xsi:type="dcterms:W3CDTF">2026-02-18T11:52:18Z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0816DB4EA2254B8095D92CBE0445F10C_13</vt:lpwstr>
  </property>
  <property fmtid="{D5CDD505-2E9C-101B-9397-08002B2CF9AE}" pid="3" name="KSOProductBuildVer">
    <vt:lpwstr>1033-12.2.0.23196</vt:lpwstr>
  </property>
</Properties>
</file>